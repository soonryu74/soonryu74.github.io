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</p:sldIdLst>
  <p:notesMasterIdLst>
    <p:notesMasterId r:id="rId6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notesMaster" Target="notesMasters/notesMaster1.xml"/><Relationship Id="rId67" Type="http://schemas.openxmlformats.org/officeDocument/2006/relationships/presProps" Target="presProps.xml"/><Relationship Id="rId68" Type="http://schemas.openxmlformats.org/officeDocument/2006/relationships/viewProps" Target="viewProps.xml"/><Relationship Id="rId69" Type="http://schemas.openxmlformats.org/officeDocument/2006/relationships/theme" Target="theme/theme1.xml"/><Relationship Id="rId7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대시보드 성격을 먼저 분명히 한다. 결과지표(사망·유병)는 사업 기여로만 해석한다.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CIAT는 질병관리청 수도권질병대응센터·서울대 원성호 교수팀 연구용역. 구조를 참조했다.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image" Target="../media/image-4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image" Target="../media/image-4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32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8288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7432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사용설명서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5661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자료 소개 · 활용법 · 메뉴별 설명과 활용 팁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57607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4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v1 · 2026년 9월 · https://health-profile.kr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7562088" y="2041398"/>
            <a:ext cx="4261104" cy="26837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0" descr="/tmp/claude-0/-home-user-soonryu74-github-io/e16f7b4f-1860-59c2-9e17-e9d4583aa91f/scratchpad/manual/shots/A_home_t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0" y="2068830"/>
            <a:ext cx="4206240" cy="26289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목차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128016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소개 — 무엇을 담은 도구인가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5544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목적과 성격 · CIAT와의 관계 · 담긴 자료 · 지역 단위 · 값의 종류 · 갱신 주기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21945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194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143000" y="214884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시작하기 — 기본 조작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143000" y="242316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접속 · 화면 구성 · 지표/지역/연도 선택 · 주소 공유 · 화면 설정 · 내려받기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306324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3063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143000" y="301752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메뉴별 설명과 활용 팁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143000" y="32918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 분석 · 지역 프로파일 · 성과지표 · 지역 비교 · 예방·관리 · 연관지표 · 핫스팟 · 연대기 · 조사 단위 · 자료원 · 의견·문의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309360" y="132588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09360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903720" y="128016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시나리오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903720" y="15544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지역보건의료계획 현황 분석 · 사업 우선순위 · 목표치 설정 · 설명자료 제작 · 감염병 대비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309360" y="21945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309360" y="2194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903720" y="214884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 주의와 자주 묻는 질문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903720" y="242316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순위의 함정 · 자체 산출 지표 표기 · 정의 변경 · 코로나19 자료 · FAQ · 문의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732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1031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FB4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5603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소개 — 무엇을 담은 도구인가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5661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대시보드는 공표 통계를 모아 시군구·보건소 단위 건강수준을 보여 주는 「건강수준 모니터링·목표치 설정 지원 도구」입니다.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대시보드의 목적과 성격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보건소·시군구 담당자가 우리 지역 건강수준을 파악하고 계획서·보고서를 만드는 데 쓰는 도구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087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5087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화면에서 우리 지역 파악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0116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 하나를 고르면 현황 타일·지도·추이·순위·연도별 표·격차가 한 화면에 나옵니다(질병관리청 CIAT의 6패널 구성과 같음).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31636" y="13258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14516" y="15087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4516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008876" y="15087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프로파일 자동 생성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414516" y="20116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시군구를 고르면 전 지표 백분위 → 영역 점수 · 강점 TOP5 · 개선 TOP5 · 건강수명 · 동류군 비교 · 우선순위 카드가 자동으로 만들어집니다.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7200" y="31546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3375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33375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근거와 출처를 함께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38404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지표마다 방향(높을수록 좋음/나쁨)·계층(투입·성과·임팩트)·NICE/CPSTF 근거 지침 · 자료 출처와 산식이 화면에 적혀 있습니다.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31636" y="31546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14516" y="3337560"/>
            <a:ext cx="457200" cy="457200"/>
          </a:xfrm>
          <a:prstGeom prst="ellipse">
            <a:avLst/>
          </a:prstGeom>
          <a:solidFill>
            <a:srgbClr val="D8402A"/>
          </a:solidFill>
          <a:ln w="12700">
            <a:solidFill>
              <a:srgbClr val="D8402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14516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008876" y="33375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사업 평가 도구가 아닙니다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414516" y="38404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보건소 사업 실적(투입·산출) 자료는 담고 있지 않습니다. 건강수준의 변화를 보고 목표치를 세우는 데 쓰되, 사업 성과를 판정하는 근거로는 쓰지 마십시오.</a:t>
            </a:r>
            <a:endParaRPr lang="en-US" sz="1150" dirty="0"/>
          </a:p>
        </p:txBody>
      </p:sp>
      <p:sp>
        <p:nvSpPr>
          <p:cNvPr id="25" name="Text 2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26" name="Text 23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CIAT(질병관리청 지역사회건강지표 분석도구)와 무엇이 같고 다른가</a:t>
            </a:r>
            <a:endParaRPr lang="en-US" sz="2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1127455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572000"/>
                <a:gridCol w="4690872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CIAT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 대시보드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지표별 6패널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현황·추이·단계구분도·순위·연도별 추이·격차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동일 구성 + 신뢰구간·10개 묶음·전체 보기 1열·인쇄·영상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심층분석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연관지표 탐색·핫스팟·황금다이아몬드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동일 3종(브라우저에서 즉시 계산) + 근거 지침 연결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지역사회건강조사 지표 98개 · e-지방지표 157개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지역사회건강조사 지표 41개 + 사망·감염병·의료이용·자원·인구·환경 지표 115개 + 암검진 7개 + 일반검진 4개 + 건강수명 3개 · 박탈지수 1개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지역 단위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시도·시군구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시도 17곳 · 시군구 229곳 · 보건소 조사 단위 258곳(자료 유무 표기)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지역 프로파일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영역 점수·등급 배지·강점/개선·동류군·우선순위·고위험군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근거·출처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지표 정의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NICE·CPSTF 권고, 자료원 탭(산식·한계·다음 공표일), 산출 예시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공유·내보내기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이미지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URL 공유, SVG(PPT 편집)·PNG·CSV, 인쇄, MP4 영상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기술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 Shiny(서버)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정적 단일 파일(서버 없음) — 휴대폰·오프라인에서도 열림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6" name="Text 2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담긴 자료 한눈에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2026년 9월 기준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2612898" cy="2377440"/>
          </a:xfrm>
          <a:prstGeom prst="roundRect">
            <a:avLst>
              <a:gd name="adj" fmla="val 4615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783080"/>
            <a:ext cx="26128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170+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788920"/>
            <a:ext cx="22471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200400"/>
            <a:ext cx="22471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 수 — 지역사회건강조사 41개 · 결과·환경 DB 115개 · 국가암검진 7개 · 일반검진 4개 · 건강수명 3개 · 박탈지수 1개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344418" y="1463040"/>
            <a:ext cx="2612898" cy="2377440"/>
          </a:xfrm>
          <a:prstGeom prst="roundRect">
            <a:avLst>
              <a:gd name="adj" fmla="val 4615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344418" y="1783080"/>
            <a:ext cx="26128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258</a:t>
            </a:r>
            <a:endParaRPr lang="en-US" sz="4400" dirty="0"/>
          </a:p>
        </p:txBody>
      </p:sp>
      <p:sp>
        <p:nvSpPr>
          <p:cNvPr id="10" name="Text 8"/>
          <p:cNvSpPr txBox="1"/>
          <p:nvPr/>
        </p:nvSpPr>
        <p:spPr>
          <a:xfrm>
            <a:off x="3527298" y="2788920"/>
            <a:ext cx="22471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보건소 조사 단위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3527298" y="3200400"/>
            <a:ext cx="22471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질병관리청 「2025 지역건강통계 한눈에 보기」 기준. 시도 17곳 · 시군구 229곳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231636" y="1463040"/>
            <a:ext cx="2612898" cy="2377440"/>
          </a:xfrm>
          <a:prstGeom prst="roundRect">
            <a:avLst>
              <a:gd name="adj" fmla="val 4615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31636" y="1783080"/>
            <a:ext cx="26128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2008~2025</a:t>
            </a:r>
            <a:endParaRPr lang="en-US" sz="3200" dirty="0"/>
          </a:p>
        </p:txBody>
      </p:sp>
      <p:sp>
        <p:nvSpPr>
          <p:cNvPr id="14" name="Text 12"/>
          <p:cNvSpPr txBox="1"/>
          <p:nvPr/>
        </p:nvSpPr>
        <p:spPr>
          <a:xfrm>
            <a:off x="6414516" y="2788920"/>
            <a:ext cx="22471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연도 범위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6414516" y="3200400"/>
            <a:ext cx="22471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지역사회건강조사 18년. 사망원인 2008~2024, 검진 2010~2024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9118854" y="1463040"/>
            <a:ext cx="2612898" cy="2377440"/>
          </a:xfrm>
          <a:prstGeom prst="roundRect">
            <a:avLst>
              <a:gd name="adj" fmla="val 4615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118854" y="1783080"/>
            <a:ext cx="26128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4400" dirty="0"/>
          </a:p>
        </p:txBody>
      </p:sp>
      <p:sp>
        <p:nvSpPr>
          <p:cNvPr id="18" name="Text 16"/>
          <p:cNvSpPr txBox="1"/>
          <p:nvPr/>
        </p:nvSpPr>
        <p:spPr>
          <a:xfrm>
            <a:off x="9301734" y="2788920"/>
            <a:ext cx="22471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자료원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9301734" y="3200400"/>
            <a:ext cx="22471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질병관리청 · 국가데이터처 · 국민건강보험공단 · 행정안전부 · 환경부 등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4160520"/>
            <a:ext cx="1127455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값은 공표 통계에서 가져왔고, 자체 산출 2종(건강수명·지역박탈지수)은 「근사」로 표기합니다.</a:t>
            </a:r>
            <a:endParaRPr lang="en-US" sz="12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자료별 출처·산식·최종 갱신일·다음 공표 예정은 「자료원」 탭에서 볼 수 있습니다.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자료원 11종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 출처 기관 기준 · 「자료원」 탭 카드와 같은 구성</a:t>
            </a:r>
            <a:endParaRPr lang="en-US" sz="12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7455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2377440"/>
                <a:gridCol w="914400"/>
                <a:gridCol w="1920240"/>
                <a:gridCol w="2770632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자료원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지표 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갱신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지역사회건강조사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질병관리청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41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2008~2025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 1회(12월)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사망원인통계(표준화사망률 22종)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국가데이터처(옛 통계청)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22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2008~2024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 1회(9월 하순)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법정감염병 발생보고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질병관리청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2008~2024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 1회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국가암검진 수검률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국민건강보험공단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2015~2024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 1회(연말~연초)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건강보험·의료이용·검진·의료자원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국민건강보험공단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33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2008~2024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 1회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인구·사회·경제·복지시설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국가데이터처·행정안전부·보건복지부 등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24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2008~2024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 1회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환경·안전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환경부·국토부·도로교통공단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28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2008~2024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 1회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건강수명(근사 산출)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자체 산출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2008~2024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사망원인 공표 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지역박탈지수(근사)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자체 산출(인구주택총조사)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2015·2020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총조사 5년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감염병 고위험군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자체 집계(복수 출처)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30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2024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비정기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코로나19 확진·사망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질병관리청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2020~2023.8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종료(1회성)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단위 이해하기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「보건소」라도 자료마다 단위가 다릅니다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087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시도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5087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시도 17개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0116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광역 비교와 「17개 시도 순위」에 쓰입니다. 세종은 단층제라 시도 값이 곧 시군구 값입니다.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31636" y="13258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14516" y="15087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4516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시군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008876" y="15087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시군구 229개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414516" y="20116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행정안전부 기초자치단체 226곳 + 제주 행정시 2곳 + 세종시. 전국 시군구 순위의 기준 분모입니다. 수원시처럼 일반구가 있는 시는 시 전체 값을 씁니다.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7200" y="31546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3375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보건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33375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보건소 조사 단위 258개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38404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지역사회건강조사의 조사 단위(강남구보건소, 수원시 장안구보건소 등). 「조사 단위」 탭과 「보건소 단위」 순위에서 씁니다.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31636" y="31546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14516" y="3337560"/>
            <a:ext cx="457200" cy="457200"/>
          </a:xfrm>
          <a:prstGeom prst="ellipse">
            <a:avLst/>
          </a:prstGeom>
          <a:solidFill>
            <a:srgbClr val="1F8A5B"/>
          </a:solidFill>
          <a:ln w="12700">
            <a:solidFill>
              <a:srgbClr val="1F8A5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14516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●◐○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008876" y="33375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유무 표기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414516" y="38404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● 그 단위로 값 있음 · ◐ 소속 시군구 값으로 대체 · ○ 없음. 「자료원」 탭의 258행 매트릭스에서 보건소별로 확인합니다.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값의 종류와 지표의 성격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 화면 상단과 추이 카드에 표시되는 배지의 뜻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087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5087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조율 vs 표준화율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0116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조율은 있는 그대로의 비율, 표준화율은 연령 구조 차이를 보정한 값입니다. 지역 간 비교에는 표준화율(기본값), 우리 지역 실제 규모 파악에는 조율을 쓰십시오.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31636" y="13258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14516" y="15087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4516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↑↓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008876" y="15087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 방향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414516" y="20116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「높을수록 양호」(걷기 실천율 등)·「낮을수록 양호」(흡연율·사망률 등)·「맥락」(인구·진료비처럼 좋고 나쁨이 없는 값). 지도 색과 순위 방향이 이에 따라 정해집니다.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7200" y="31546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3375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계층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33375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결과사슬 계층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38404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투입·과정 → 산출 → 성과 → 임팩트 → 맥락. 임팩트(사망·유병)는 변화가 느리고 사업 귀인이 어려워 순위 비교에 부적합하다고 표시합니다.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31636" y="31546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14516" y="3337560"/>
            <a:ext cx="457200" cy="457200"/>
          </a:xfrm>
          <a:prstGeom prst="ellipse">
            <a:avLst/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14516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CI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008876" y="33375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표본오차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414516" y="38404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지역사회건강조사 지표는 표본조사라 오차가 있습니다. 순위 카드에서 95% 신뢰구간을 켜고, 표준오차가 값의 20%를 넘는 「불안정값」은 제외할 수 있습니다.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갱신 주기와 최신성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원천이 공표되면 반영합니다 · 최신 상태는 「자료원」 탭 카드의 「최종 갱신」·「다음 공표」 참고</a:t>
            </a:r>
            <a:endParaRPr lang="en-US" sz="12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74552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1463040"/>
                <a:gridCol w="2377440"/>
                <a:gridCol w="3776472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최신 연도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다음 공표(예상)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비고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지역사회건강조사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2025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2026년 12월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지표 41개 중 심폐소생술 2종은 원천 표에 2025년 값이 없음(2024년까지)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사망원인통계 · 건강수명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2024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2026년 9월 하순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공표 즉시 사망률 22종·건강수명 연장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국가암검진 · 일반건강검진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2024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2026년 12월~2027년 1월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검진 판정은 2018년 제도 개편으로 정의 변경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미세먼지·초미세먼지 · 만성하기도질환 사망률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원천 DB 갱신 대기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의료기관 진료실인원(인구 천명당)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2021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원천 DB 갱신 대기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추락 사망률·등록장애인 비율 2017 · 사회복지시설·교통사고 건수 2022 · 병상 수 2023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2017~2023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원천 DB 갱신 대기(지표별 최신 연도는 자료원 탭)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코로나19 확진·사망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2023.8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전수감시 종료. 신고 보건소 관할 기준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732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1031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FB4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5603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시작하기 — 기본 조작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5661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설치가 필요 없습니다. 주소를 열면 바로 씁니다. 크롬·엣지·사파리·휴대폰 브라우저 모두 지원합니다.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접속과 지원 환경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801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80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URL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2801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https://health-profile.kr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830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내용이 https://soonryu74.github.io/health-dashboard/ 에서도 열립니다. 파일 하나로 되어 있어 처음 열 때 10MB 정도를 내려받은 뒤에는 빠르게 동작합니다.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231636" y="10972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14516" y="12801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14516" y="1280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🖥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008876" y="12801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권장 브라우저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414516" y="17830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크롬·엣지 최신 버전을 권장합니다. 영상 저장(MP4)은 크롬·엣지·최신 사파리에서 됩니다. 인터넷 익스플로러는 지원하지 않습니다.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29260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31089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3108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📱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234440" y="31089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휴대폰·태블릿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6118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카드가 1열로 재배치되고 표는 좌우로 밀어서 봅니다. 카카오톡 안의 브라우저는 파일 저장이 막혀 있으니 「다른 브라우저로 열기」를 누르십시오.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231636" y="29260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14516" y="31089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14516" y="3108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🔒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7008876" y="31089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개인정보·로그인 없음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414516" y="36118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로그인이 없고 아무것도 서버로 보내지 않습니다. 입력한 의견·문의 초안만 내 브라우저에 저장됩니다.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휴대폰에서 보기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카드가 1열로 재배치되고 큰 숫자는 만 단위로 읽기 쉽게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970012" y="1252728"/>
            <a:ext cx="2357657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A_mobi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7444" y="1280160"/>
            <a:ext cx="2302793" cy="49834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36172" y="1252728"/>
            <a:ext cx="2357657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1" descr="/tmp/claude-0/-home-user-soonryu74-github-io/e16f7b4f-1860-59c2-9e17-e9d4583aa91f/scratchpad/manual/shots/C_mobile_profi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63604" y="1280160"/>
            <a:ext cx="2302793" cy="498348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 분석·프로파일·모든 메뉴가 휴대폰에서 동작합니다.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표는 좌우로 밀어서 보고, 순위 목록은 40개 이하면 한 줄로 전부 펼쳐집니다.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버튼은 공유 시트로 열립니다(갤러리·카카오톡).</a:t>
            </a:r>
            <a:endParaRPr lang="en-US" sz="1250" dirty="0"/>
          </a:p>
        </p:txBody>
      </p:sp>
      <p:sp>
        <p:nvSpPr>
          <p:cNvPr id="9" name="Shape 5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11" name="Text 7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카카오톡 안에서 링크를 열었다면 오른쪽 위 메뉴의 「다른 브라우저로 열기」를 먼저 누르십시오.</a:t>
            </a:r>
            <a:endParaRPr lang="en-US" sz="1150" dirty="0"/>
          </a:p>
        </p:txBody>
      </p:sp>
      <p:sp>
        <p:nvSpPr>
          <p:cNvPr id="12" name="Text 8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구성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제목(누르면 첫 화면) · 메뉴 탭 · 선택 컨트롤 · 연도 · 요약 타일 · 카드들 · 하단 출처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398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A_home_t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4343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제목: 누르면 언제든 「지표 분석」 첫 화면으로 돌아갑니다.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메뉴 탭 11개: 지표 분석 · 지역 프로파일 · 성과지표 · 지역 비교 · 예방·관리 · 연관지표 · 핫스팟 · 연대기 전시관 · 조사 단위 · 자료원 · 의견·문의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A−/A+ 글자 크기, 다크 모드 전환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지표·시도·시군구·비교 담기·값 유형 컨트롤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 연도 슬라이더와 ▶ 재생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⑥ 요약 타일 4개와 분석 카드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4663440"/>
            <a:ext cx="4005072" cy="1600200"/>
          </a:xfrm>
          <a:prstGeom prst="roundRect">
            <a:avLst>
              <a:gd name="adj" fmla="val 5714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47731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074920"/>
            <a:ext cx="36758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카드 오른쪽 위에 ↓SVG·↓PNG·↓CSV 버튼이 있습니다.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상태는 주소(URL)에 담기므로 주소만 복사해 보내면 같은 화면이 열립니다.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 선택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 이름 상자를 누르면 검색창과 영역 칩이 열립니다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398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A_picker_op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4343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검색: 「흡연」·「우울」처럼 단어 일부만 넣어도 찾습니다.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영역 칩: 흡연·음주·신체활동·식생활·정신건강·구강·만성질환·예방·의료이용 + 사망률·감염병·검진·자원·인구·환경·암검진·건강수명·지역박탈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 이름 앞의 작은 글씨가 영역, 뒤의 배지가 방향·계층입니다.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4663440"/>
            <a:ext cx="4005072" cy="1600200"/>
          </a:xfrm>
          <a:prstGeom prst="roundRect">
            <a:avLst>
              <a:gd name="adj" fmla="val 5714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47731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074920"/>
            <a:ext cx="36758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보고서용 핵심 지표는 질병관리청 요약집 25개 지표를 먼저 보십시오(연대기 「변화의 벽」에 모아 두었습니다).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지표를 바꿔도 지역·연도 선택은 유지됩니다.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선택과 비교 범위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시도 → 시군구 순서로 고릅니다. 「시도 전체」를 두면 시도 단위 값을 봅니다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938267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A_control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88340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시도 전체: 17개 시도 비교와 시도 값(시도 순위·백분위).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시군구: 순위·백분위의 비교 기준을 「전국」 또는 「시도 내」로 바꿀 수 있습니다.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 담기: 지금 고른 지역을 「지역 비교」 화면의 바구니에 넣습니다(최대 6개).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 유형: 표준화율(기본)·조율. DB 지표는 원자료 값 그대로입니다.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4663440"/>
            <a:ext cx="4005072" cy="1600200"/>
          </a:xfrm>
          <a:prstGeom prst="roundRect">
            <a:avLst>
              <a:gd name="adj" fmla="val 5714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47731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074920"/>
            <a:ext cx="36758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시도 내 순위가 더 설득력 있을 때가 많습니다(여건이 비슷한 이웃과 비교).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시군구를 고르면 지도는 자동으로 「시도 내 시군구」 모드가 됩니다.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연도 이동과 재생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슬라이더를 끌거나 ▶ 를 누르면 지도·순위·타일이 해마다 바뀝니다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398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A_home_t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4343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연도는 지표마다 다릅니다(지역사회건강조사 2008~2025, 사망원인 ~2024, 검진 ~2024).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 재생은 한 해씩 넘어가며 지도 색과 순위 자리가 움직입니다.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연도별 추이표에서 행을 눌러도 그 연도로 이동합니다.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발표용 애니메이션은 순위 「전체 보기」의 ▶와 🎬 영상 저장이 더 보기 좋습니다(3부 참고).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주소(URL)로 화면 공유하기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주소창의 # 뒤에 지표·지역·연도·메뉴가 모두 담깁니다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087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5087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어떻게 생겼나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0116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health-profile.kr/#ind=DT_H_OBE_OBE&amp;sido=001&amp;sgg=00101&amp;year=2025&amp;view=profile 처럼 지표(ind)·시도(sido)·시군구(sgg)·연도(year)·메뉴(view)가 들어갑니다.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31636" y="13258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14516" y="15087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4516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📋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008876" y="15087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보내는 법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414516" y="20116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원하는 화면을 만든 뒤 주소창을 복사해 메일·카카오톡으로 보내면 받는 사람도 같은 화면을 봅니다. 북마크로 저장해 두면 다음에 바로 열립니다.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7200" y="31546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3375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↩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33375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뒤로 가기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38404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메뉴·지표를 바꿀 때마다 주소가 바뀌므로 브라우저 「뒤로」로 이전 화면에 갑니다.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31636" y="31546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14516" y="33375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14516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✉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008876" y="33375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문의에 자동 첨부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414516" y="38404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「의견·문의」에 보고 있던 화면 주소가 자동으로 붙어, 어느 화면의 문제인지 바로 재현할 수 있습니다.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설정 — 다크 모드와 글자 크기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오른쪽 위 A−/A+ 와 ☾ 다크 버튼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398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A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4343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다크 모드는 눈이 편하고 대형 화면 발표에 적합합니다. 지도 라벨은 구역 밝기에 맞춰 자동으로 색이 바뀝니다.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글자 크기는 3단계로 키울 수 있습니다. 설정은 브라우저에 기억됩니다.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인쇄나 보고서 캡처는 라이트 모드가 잉크 절약과 가독성에 유리합니다.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내려받기 공통 — SVG · PNG · CSV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카드 오른쪽 위 버튼. 파일명에 지표·지역·연도가 자동으로 들어갑니다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087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SVG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5087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↓SVG — 파워포인트에서 편집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0116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벡터 파일이라 파워포인트에 넣고 「그룹 해제」하면 글자·막대를 하나하나 고칠 수 있습니다. 제목·범례·출처까지 포함됩니다.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31636" y="13258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14516" y="15087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4516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PNG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008876" y="15087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↓PNG — 그림 파일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414516" y="20116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2배 해상도로 저장되어 인쇄물에도 선명합니다. 한글·문서에 바로 붙입니다.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7200" y="31546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3375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CSV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33375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↓CSV — 엑셀용 표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38404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표·순위·연도별 값을 엑셀에서 열 수 있게 저장합니다(한글 깨짐 방지 처리됨).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31636" y="31546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14516" y="33375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14516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📱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008876" y="33375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휴대폰에서는 공유 시트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414516" y="38404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휴대폰에서는 저장 대신 공유 창이 열려 갤러리·파일·카카오톡으로 보낼 수 있습니다.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732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1031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FB4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5603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메뉴별 설명과 활용 팁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5661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메뉴 탭 11개를 왼쪽부터 차례로 설명합니다. 각 화면의 카드마다 「무엇을 보여 주는가」와 「이렇게 쓰면 좋다」를 적었습니다.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지표 분석 — 요약 타일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지역 값 · 전국 시군구 중앙값 · 순위 · 백분위를 한 줄로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11329416" cy="1367043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A_kpi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11274552" cy="1312179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4087368"/>
            <a:ext cx="11274552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지역·연도 값과 전년 대비 증감(▲▼).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전국 시군구 중앙값: 전국 기준선(KOSIS에 전국 행이 없어 중앙값 사용).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순위: 비교 범위(전국·시도 내)에서의 순위와 방향.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양호도 백분위: 100에 가까울수록 양호.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57200" y="5532120"/>
            <a:ext cx="11274552" cy="731520"/>
          </a:xfrm>
          <a:prstGeom prst="roundRect">
            <a:avLst>
              <a:gd name="adj" fmla="val 125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21792" y="5641848"/>
            <a:ext cx="10945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621792" y="5943600"/>
            <a:ext cx="10945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보고서 첫 문장은 이 타일 네 개로 충분합니다: "강릉시 비만율 38.0%로 전국 시군구 중앙값(35.4%)보다 2.6%p 높고, 229곳 중 170위(2025년, 낮을수록 양호)".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지표 분석 — 단계구분도 ① 전국 시도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지도 위 탭으로 「전국 시도 / 전국 시군구 / 시도 내 시군구」를 바꿉니다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754570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B_map_sid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469970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7단계 분위 색: 「나쁠수록 붉게」·「좋을수록 파랗게」·맥락 지표는 보라색.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지역을 누르면 선택되고, ▶ 로 연도 애니메이션.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🏷 지역명 토글로 라벨을 켜고 끕니다(겹침 자동 회피).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시도 모드는 광역 단위 보고에, 시군구 모드는 전국 분포 파악에 쓰십시오.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지표 분석 — 단계구분도 ② 전국 시군구 · ③ 시도 내 시군구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2045323" y="1024128"/>
            <a:ext cx="3773195" cy="25694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4" name="Image 0" descr="/tmp/claude-0/-home-user-soonryu74-github-io/e16f7b4f-1860-59c2-9e17-e9d4583aa91f/scratchpad/manual/shots/B_map_n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72755" y="1051560"/>
            <a:ext cx="3718331" cy="25146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2045323" y="3721608"/>
            <a:ext cx="3773195" cy="25694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1" descr="/tmp/claude-0/-home-user-soonryu74-github-io/e16f7b4f-1860-59c2-9e17-e9d4583aa91f/scratchpad/manual/shots/B_map_insid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2755" y="3749040"/>
            <a:ext cx="3718331" cy="25146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726680" y="1051560"/>
            <a:ext cx="400507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전국 시군구: 229곳 전체 분포(그 해 값이 있는 곳). 분위는 전국 기준.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시도 내 시군구: 우리 시도만 확대, 분위도 시도 안에서 다시 계산.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 없는 지역은 회색.</a:t>
            </a:r>
            <a:endParaRPr lang="en-US" sz="1250" dirty="0"/>
          </a:p>
        </p:txBody>
      </p:sp>
      <p:sp>
        <p:nvSpPr>
          <p:cNvPr id="8" name="Shape 4"/>
          <p:cNvSpPr/>
          <p:nvPr/>
        </p:nvSpPr>
        <p:spPr>
          <a:xfrm>
            <a:off x="7726680" y="4663440"/>
            <a:ext cx="4005072" cy="1600200"/>
          </a:xfrm>
          <a:prstGeom prst="roundRect">
            <a:avLst>
              <a:gd name="adj" fmla="val 5714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7891272" y="47731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10" name="Text 6"/>
          <p:cNvSpPr txBox="1"/>
          <p:nvPr/>
        </p:nvSpPr>
        <p:spPr>
          <a:xfrm>
            <a:off x="7891272" y="5074920"/>
            <a:ext cx="36758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↓SVG로 받으면 지도 폴리곤 색을 파워포인트에서 바꿀 수 있습니다.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군 단위처럼 작은 지역은 「시도 내」 모드에서 라벨을 켜야 보입니다.</a:t>
            </a:r>
            <a:endParaRPr lang="en-US" sz="115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2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지표 분석 — 추이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지역(파란 선)과 전국 시군구 중앙값(주황 선), 선택 연도는 세로 점선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1860701" y="1252728"/>
            <a:ext cx="4142437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B_analysis_01_비만율_자가보고_추이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88133" y="1280160"/>
            <a:ext cx="4087573" cy="4983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 상단에 자료 출처와 산식, 지표 방향과 근거, 계층 배지와 권장 측정 주기가 적혀 있습니다.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붉은 안내문은 「자료 연결」이나 「정의 변경」(예: 2018년 검진 판정 기준 변경)을 뜻합니다 — 이 경계를 넘어 증감을 비교하지 마십시오.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추이 카드는 ↓SVG로 받아 계획서 「현황 분석」 그림으로 그대로 씁니다.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지표 분석 — 순위 ① 기본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집단 탭: 17개 시도 · 전국 시군구 · 시도 내 시군구 · 보건소 단위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3438144" cy="4179685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B_analysis_02_순위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3383280" cy="4124821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995928" y="1252728"/>
            <a:ext cx="3438144" cy="4179685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1" descr="/tmp/claude-0/-home-user-soonryu74-github-io/e16f7b4f-1860-59c2-9e17-e9d4583aa91f/scratchpad/manual/shots/B_rank_rev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360" y="1280160"/>
            <a:ext cx="3383280" cy="4124821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막대 길이 = 값. 선택 지역은 파란 막대, 같은 시도 지역은 옅게 표시.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「양호한 순 ▼ / 나쁜 순 ▲」로 정렬을 뒤집습니다.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40개 이하 목록은 한 줄로 전부 펼쳐지고, 전국 229개는 스크롤 상자(인쇄 시 전부 펼침).</a:t>
            </a:r>
            <a:endParaRPr lang="en-US" sz="1250" dirty="0"/>
          </a:p>
        </p:txBody>
      </p:sp>
      <p:sp>
        <p:nvSpPr>
          <p:cNvPr id="9" name="Shape 5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11" name="Text 7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「시도 내 시군구」 탭이 기본으로 열립니다. 전국 순위가 필요하면 「전국 시군구」 탭.</a:t>
            </a:r>
            <a:endParaRPr lang="en-US" sz="1150" dirty="0"/>
          </a:p>
        </p:txBody>
      </p:sp>
      <p:sp>
        <p:nvSpPr>
          <p:cNvPr id="12" name="Text 8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지표 분석 — 순위 ② 신뢰구간과 불안정값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표본조사 지표(지역사회건강조사)에서만 나타나는 토글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1860701" y="1252728"/>
            <a:ext cx="4142437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B_rank_c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88133" y="1280160"/>
            <a:ext cx="4087573" cy="4983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⟺ 신뢰구간: 막대 위에 95% 오차막대와 ±값. 선택 지역과 구간이 겹치는 지역은 흐리게 = 차이가 불확실.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불안정값 제외: 표준오차가 값의 20%를 넘는 지역을 순위에서 뺍니다(미국 County Health Rankings 규칙).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우울증상 유병률처럼 불안정 비율이 높은 지표는 순위 자체를 쓰지 않는 편이 낫습니다.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"우리 지역이 몇 위"라고 쓰기 전에 신뢰구간을 켜서 몇 곳과 겹치는지 확인하십시오.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지표 분석 — 순위 ③ 10개 묶음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1~N 서열 대신 값이 비슷한 지역을 10개 묶음으로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2103527" y="1252728"/>
            <a:ext cx="3656785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B_rank_gro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30959" y="1280160"/>
            <a:ext cx="3601921" cy="4983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 분포를 최적 분할(Fisher–Jenks)해 크기가 제각각인 10개 묶음에 배정합니다.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번호 칸이 순위 → 묶음 번호로 바뀌고 경계에 구분선이 생깁니다.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묶음 안의 순서 차이는 의미가 없습니다.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의회·언론 자료에서 「몇 위」 대신 「상위 2번째 묶음」처럼 쓰면 순위 논쟁을 줄일 수 있습니다.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28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지표 분석 — 순위 ④ 전체 보기(한 줄)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⛶ 전체 보기: 25개든 258개든 위에서 아래로 한 줄, 막대가 화면 폭 전체 → 격차가 한눈에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398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B_rank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4343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 2008년부터 재생: 막대 길이와 순위 자리가 해마다 움직입니다(척도는 전 연도 공통 최댓값 → 늘고 주는 게 그대로 보임).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지역은 붉은 막대, ▲▼는 전년 대비 순위 변동.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단축키: Space 재생 · ← → 연도 · Esc 닫기. 칸을 누르면 그 지역으로 이동.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「크게」는 줄 높이를 키웁니다. 회의실 화면에서 켜십시오.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29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지표 분석 — 순위 ⑤ 인쇄와 영상 저장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보기 상단의 🖨 인쇄 · 🎬 영상 저장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398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B_rankall_pri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4343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🖨 인쇄: 이 화면만 세로로 길게 인쇄됩니다(버튼·연도칩 제외, 막대 색 유지). 브라우저 인쇄 창에서 PDF로 저장해도 됩니다.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🎬 영상 저장: 2008년부터 마지막 연도까지 순위·막대 변화를 MP4(1280×720/1080, 30fps)로 저장합니다. 25개 기준 약 27초·10MB.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영상 범위: 자동(40개 이하 전체, 아니면 상위 30) · 전체 · 상위 30 · 상위 50. 선택 지역은 범위 밖이어도 맨 아래에 순위와 함께 나옵니다.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4663440"/>
            <a:ext cx="4005072" cy="1600200"/>
          </a:xfrm>
          <a:prstGeom prst="roundRect">
            <a:avLst>
              <a:gd name="adj" fmla="val 5714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47731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074920"/>
            <a:ext cx="36758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비만율처럼 해마다 오른 지표는 영상에서 막대가 길어지는 모습이 그대로 보입니다.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영상을 만드는 동안 창을 닫지 마십시오. MP4가 안 되는 브라우저는 WebM으로 저장됩니다.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지표 분석 — 연도별 추이표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수치 · 순위 · 증감량(%p) · 증감률(%)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1889009" y="1252728"/>
            <a:ext cx="4085823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B_analysis_03_연도별_추이표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16441" y="1280160"/>
            <a:ext cx="4030959" cy="4983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연도마다 값과 순위, 전년 대비 증감을 표로 보여 줍니다.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행을 누르면 그 연도로 화면 전체가 이동합니다.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↓CSV로 받아 엑셀에서 추가 계산.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계획서 「연차별 목표」 표의 기준값(최근 3년)을 여기서 복사하십시오.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31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지표 분석 — 지역 간 격차(상자그림)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연도별 분포(상자=1~3사분위, 수염=최소~최대)와 우리 지역의 위치(점)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1889009" y="1252728"/>
            <a:ext cx="4085823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B_analysis_04_지역_간_격차_전국_시군구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16441" y="1280160"/>
            <a:ext cx="4030959" cy="4983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상자가 길수록 지역 간 격차가 큽니다. 점이 상자 밖이면 우리 지역이 극단에 있다는 뜻.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격차 최대·최소 지역명이 함께 표시됩니다.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"격차가 줄었는가"는 상자 길이의 연도별 변화로 말할 수 있습니다.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32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지표 분석 — 건강형평성(지역박탈지수)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2020 인구총조사 집계표 7개 변수로 만든 근사 지수 · 5분위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328695" y="1252728"/>
            <a:ext cx="3531562" cy="3063240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B_analysis_05_건강형평성_지역박탈_5분위별_분포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56127" y="1280160"/>
            <a:ext cx="3476698" cy="300837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4379976"/>
            <a:ext cx="11274552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박탈 분위별로 지표 값이 어떻게 다른지 보여 줍니다(형평성 기울기).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지역의 실제 숫자로 산식을 펼쳐 보여 화면만으로 검산할 수 있습니다.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공식 통계가 아니라 「근사」입니다. 절대값·1~2위 차이 강조는 피하십시오.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57200" y="5532120"/>
            <a:ext cx="11274552" cy="731520"/>
          </a:xfrm>
          <a:prstGeom prst="roundRect">
            <a:avLst>
              <a:gd name="adj" fmla="val 125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21792" y="5641848"/>
            <a:ext cx="10945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621792" y="5943600"/>
            <a:ext cx="10945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형평성 관점의 사업 대상 지역(높은 박탈 + 나쁜 지표)을 고를 때 씁니다.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33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지표 분석 — 이 지표의 현행 근거 지침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영국 NICE 가이드라인(2019 전후 갱신) + 미국 CPSTF 권고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1833449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B_evide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177858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지표와 직접·부분 관련된 NICE 가이드라인, 발표·최종 갱신 연도, 권고 수(권고·고려·반대·근거 불충분)를 보여 줍니다.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배지: 현행(최근 10년 내 갱신) · 얇음 · CPSTF만 · 오래됨 · 없음.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CPSTF 권고는 15년 이상 지난 것이 많아 보조로만 표시합니다.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사업 계획서 「근거」 란에 가이드라인 번호(예: NG92)와 갱신 연도를 인용하십시오.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34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3.2 지역 프로파일 — 개요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시군구를 고르면 전 지표 백분위를 모아 프로파일을 자동 생성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398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C_profile_t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4343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영역 점수(흡연·음주·신체활동·식생활·정신건강·구강·만성질환·예방·의료이용) + 등급 배지(플래티넘 10% · 골드 25% · 실버 50%).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강점 TOP5 · 개선 TOP5(항상 강점을 먼저, 최소 3개 보장).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가중치 프리셋(균등·모의 패널·직접), 3년 평균, 도시·군 리그 선택.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기본값은 표준화율 + 균등 가중 + 3년 평균입니다. 「모의 패널」 가중치는 AI 시뮬레이션이라 실제 근거로 쓰지 마십시오.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3.2 지역 프로파일 — 강점과 개선 과제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백분위 상위·하위 지표와 접힌 「개선 과제」 목록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1741255" y="1252728"/>
            <a:ext cx="4381331" cy="24551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C_profile_07_강점_TOP_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68687" y="1280160"/>
            <a:ext cx="4326467" cy="24003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741255" y="3835908"/>
            <a:ext cx="4381331" cy="24551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1" descr="/tmp/claude-0/-home-user-soonryu74-github-io/e16f7b4f-1860-59c2-9e17-e9d4583aa91f/scratchpad/manual/shots/C_profile_08_가장_개선된_지표_TOP_5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8687" y="3863340"/>
            <a:ext cx="4326467" cy="24003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TOP5는 하위 백분위 지표. 사망률·건강수명 같은 결과지표는 순위 산정에서 빠지고, 진단 경험률 2종·건강생활실천율·보건기관 이용률 4종도 기본값에서 제외됩니다(설정에서 포함 가능).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「개선 과제」를 펼치면 하위 25% 지표 전체와 권고 사업(예방·관리 탭 연결)이 나옵니다.</a:t>
            </a:r>
            <a:endParaRPr lang="en-US" sz="1250" dirty="0"/>
          </a:p>
        </p:txBody>
      </p:sp>
      <p:sp>
        <p:nvSpPr>
          <p:cNvPr id="9" name="Shape 5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11" name="Text 7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강점을 먼저 말하고 개선 과제를 말하는 순서가 미국 County Health Rankings의 설계 원칙입니다. 보고서도 같은 순서를 권합니다.</a:t>
            </a:r>
            <a:endParaRPr lang="en-US" sz="1150" dirty="0"/>
          </a:p>
        </p:txBody>
      </p:sp>
      <p:sp>
        <p:nvSpPr>
          <p:cNvPr id="12" name="Text 8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36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3.2 지역 프로파일 — 기대수명·건강수명(근사)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사망원인통계·연앙인구로 만든 시군구 생명표 + 주관적 건강 기반 건강수명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3977175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C_profile_02_기대수명_건강수명_시군구_근사_주관적_건강_기반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3922311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기대수명·건강수명·불건강 기간·시군구 순위 타일과 추이.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「산출 예시」에 선택 지역 숫자로 6단계 산식과 검산행이 나옵니다.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공식 통계가 아니므로 「건강수명(주관적 건강 기반·근사)」로만 부르고, 절대값·연도 간 비교·1~2위 차이 강조는 피합니다.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시도 값(통계청 생명표 기반)은 공식 값에 가깝고, 시군구는 근사입니다. 문서에 반드시 구분해 적으십시오.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37</a:t>
            </a:r>
            <a:endParaRPr lang="en-US" sz="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3.2 지역 프로파일 — 동류군 비교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고령화율·재정자립도·인구밀도·박탈분위가 비슷한 12개 시군구와 비교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071405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C2_gurye_05_동류군_비교_여건이_비슷한_12개_시군구_군_리그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4016541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여건 보정 없는 전국 서열화에 대한 대응입니다. 도시 리그·군 리그로 나뉩니다.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동류군 안에서 우리 지역이 몇 번째인지, 어떤 지표가 동류군 평균보다 좋고 나쁜지 보여 줍니다.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"여건이 비슷한 12곳 중 3위"는 전국 순위보다 설득력이 있습니다.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38</a:t>
            </a:r>
            <a:endParaRPr lang="en-US" sz="9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3.2 지역 프로파일 — 황금다이아몬드(보건사업 우선순위)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시간축(기준연도 대비 개선/유지/악화) × 공간축(중앙값 대비 좋음/비슷/나쁨) 3×3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715493" y="1252728"/>
            <a:ext cx="6432854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C_profile_04_황금다이아몬드_보건사업_우선순위_시간축_공간축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2925" y="1280160"/>
            <a:ext cx="6377990" cy="4983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당해연도·기준연도를 여러 해 평균으로 고를 수 있어 표본오차를 줄입니다.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1순위(악화 + 나쁨)가 사업 우선 검토 대상. 통합건강증진사업 계획서의 CIAT 황금다이아몬드와 같은 구조.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 기준을 전국 중앙값·시도로 바꿀 수 있습니다.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「최근 3년 vs 이전 3년」 빠른 선택이 계획서 작성에 가장 무난합니다.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39</a:t>
            </a:r>
            <a:endParaRPr lang="en-US" sz="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3.2 지역 프로파일 — 감염병 대응 고위험군 + 코로나19 실적 참고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질병관리청 지침의 고위험군 정의를 지역 자료로 옮긴 규모(실측/추정)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2462716" y="1252728"/>
            <a:ext cx="2938408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C_profile_03_감염병_대응_고위험군_규모_추정_집단_간_중복_있음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90148" y="1280160"/>
            <a:ext cx="2883544" cy="4983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65세 이상·기저질환·임신부·영유아·감염취약시설·사회적 취약·예방접종·대응 자원 30개 집단. 집단은 겹치므로 더하지 않습니다.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하단 「코로나19 실적 참고」: 2020.1~2023.8 누적 확진율·10만 명당 사망·치명률(선택 지역·시도·전국 중앙값)과 65세 이상 비율 4분위별 치명률.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코로나 자료는 거주지가 아니라 신고 보건소 관할 기준이라 대형병원 소재지가 높게 나옵니다 — 시군구 순위를 매기지 않습니다.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감염병 대응 계획의 「대상 규모」 표는 이 카드의 CSV로 만드십시오.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</a:t>
            </a:r>
            <a:endParaRPr lang="en-US" sz="9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3.2 지역 프로파일 — 무엇부터 손댈 것인가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하위 25% 지표 × 현행 근거 지침 = 우선순위 표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3906503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C2_gurye_10_무엇부터_손댈_것인가_하위_30_지표_현행_근거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3851639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하위 지표를 근거 판정(현행 → 얇음 → CPSTF만 → 오래됨 → 없음) 순으로 정렬합니다.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근거가 확실한 지표부터 손대면 사업 효과를 설명하기 쉽습니다.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「근거 공백」 접기에서 지침이 없는 지표를 따로 보여 줍니다.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하위 기준(25/30/40%)을 바꿔 가며 후보 폭을 조절하십시오.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41</a:t>
            </a:r>
            <a:endParaRPr lang="en-US" sz="9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3.3 성과지표 — 통합건강증진사업 핵심성과지표 16개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보유 13개 + 미보유 3개(자료원·사유·확보 경로 표기)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398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D_kpi_t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4343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지표별 우리 지역 최근값·추이·전국 중앙값.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안내서의 목표치 설정법 5종(전년 대비·추세 연장·중앙값 도달·상위 25% 도달·격차 절반)을 자동 계산.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달성률·득점 계산기에 목표·실적을 넣으면 점수가 나옵니다.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계획서 목표치는 여기서 5종을 비교해 가장 현실적인 값을 고르십시오.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42</a:t>
            </a:r>
            <a:endParaRPr lang="en-US" sz="9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3.3 성과지표 — 미보유 3종과 확보 경로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투약 순응률 2종 · 모유수유 실천율은 시군구 공표 통계가 없음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597521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D_kpi_00_통합건강증진사업_핵심성과지표_서울_강남구_16개_전량_결과지표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454265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투약 순응률: KOSIS에 표가 없고 공단 자료는 시도 단위·「300일」 구간이 없음 → 공단 맞춤형 DB 신청 사안.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모유수유: 보건복지부 실태조사(전국·시도 표본)만 있음.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건강증진개발원이 공표한 과거 참고값을 함께 표시합니다.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보건소 자체 집계값이 있으면 계산기에 직접 넣어 득점을 확인하십시오.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43</a:t>
            </a:r>
            <a:endParaRPr lang="en-US" sz="9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3.4 지역 비교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전국 중앙값·시도·시군구를 섞어 최대 6개까지 나란히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398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E_compare_t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4343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 분석 화면의 「+ 비교에 추가」로 담거나, 비교 화면에서 바로 담습니다. 처음 담을 때 전국 중앙값이 자동으로 들어갑니다.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추이(여러 선) · 막대 · 연도표 · 전 지표 비교표(백분위 색).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 목록도 주소에 담기므로 그대로 공유됩니다.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지역 + 시도 + 전국 중앙값 + 동류군 2곳이 가장 읽기 쉬운 조합입니다.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44</a:t>
            </a:r>
            <a:endParaRPr lang="en-US" sz="9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3.5 예방·관리 — 만성질환 지식베이스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WHO → 서태평양 → 국가(HP2030·통합건강증진) → 17개 시도 지역보건의료계획 4층 구조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398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F_ncd_t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4343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182개 항목·문서 54건(링크). 41개 지표 모두 최소 1개 항목에 연결.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프로파일의 하위 지표를 누르면 시도 → 국가 → WPRO → WHO 순으로 권고 사업 카드가 열립니다.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AI가 수집·요약한 내용이므로 수치는 원문으로 확인하십시오.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시도 제8기 지역보건의료계획의 해당 사업명을 그대로 인용하면 상위 계획과의 정합성을 보이기 쉽습니다.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45</a:t>
            </a:r>
            <a:endParaRPr lang="en-US" sz="9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3.6 연관지표 — 두 지표의 관계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산점도 · 피어슨/스피어만/켄달 상관계수 · 연도별 상관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1536299" y="1252728"/>
            <a:ext cx="4791242" cy="24551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G_corr_01_2023년_현재흡연율_건강수명_주관적_건강_기반_근사_n_22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63731" y="1280160"/>
            <a:ext cx="4736378" cy="24003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935703" y="3835908"/>
            <a:ext cx="3992435" cy="24551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1" descr="/tmp/claude-0/-home-user-soonryu74-github-io/e16f7b4f-1860-59c2-9e17-e9d4583aa91f/scratchpad/manual/shots/G_corr_02_연관성_통계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3135" y="3863340"/>
            <a:ext cx="3937571" cy="24003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X·Y 지표를 고르면 전국 시군구(최대 229곳) 산점도와 상관계수, 근사 p값이 나옵니다.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지역 점은 강조 표시.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상관은 인과가 아닙니다. 고령화율처럼 둘 다에 영향을 주는 제3의 요인을 생각하십시오.</a:t>
            </a:r>
            <a:endParaRPr lang="en-US" sz="1250" dirty="0"/>
          </a:p>
        </p:txBody>
      </p:sp>
      <p:sp>
        <p:nvSpPr>
          <p:cNvPr id="9" name="Shape 5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11" name="Text 7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걷기 실천율 ↔ 비만율, 흡연율 ↔ 폐암 사망률처럼 사업 논리를 뒷받침하는 쌍을 찾을 때 씁니다.</a:t>
            </a:r>
            <a:endParaRPr lang="en-US" sz="1150" dirty="0"/>
          </a:p>
        </p:txBody>
      </p:sp>
      <p:sp>
        <p:nvSpPr>
          <p:cNvPr id="12" name="Text 8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46</a:t>
            </a:r>
            <a:endParaRPr lang="en-US" sz="9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3.7 핫스팟 — 공간 군집과 추세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Getis-Ord Gi*(90/95/99%) 핫·콜드스팟 + Mann-Kendall 추세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3438144" cy="4419141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H_hot_01_2025년_현재흡연율_핫스팟_콜드스팟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3383280" cy="4364277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995928" y="1252728"/>
            <a:ext cx="3438144" cy="4419141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1" descr="/tmp/claude-0/-home-user-soonryu74-github-io/e16f7b4f-1860-59c2-9e17-e9d4583aa91f/scratchpad/manual/shots/H_hot_02_유의한_핫스팟_콜드스팟_목록_z_큰_순_76곳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360" y="1280160"/>
            <a:ext cx="3383280" cy="4364277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인접한 시군구끼리 값이 함께 높은(핫) 또는 낮은(콜드) 군집을 지도에 표시합니다.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추세: 연도별 값의 Mann-Kendall z와 Sen 기울기로 「유의하게 증가/감소」를 판정.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섬 지역은 가장 가까운 2곳을 이웃으로 씁니다.</a:t>
            </a:r>
            <a:endParaRPr lang="en-US" sz="1250" dirty="0"/>
          </a:p>
        </p:txBody>
      </p:sp>
      <p:sp>
        <p:nvSpPr>
          <p:cNvPr id="9" name="Shape 5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11" name="Text 7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광역 공동사업(인접 시군구 연합)의 근거로 핫스팟 지도를 쓰십시오.</a:t>
            </a:r>
            <a:endParaRPr lang="en-US" sz="1150" dirty="0"/>
          </a:p>
        </p:txBody>
      </p:sp>
      <p:sp>
        <p:nvSpPr>
          <p:cNvPr id="12" name="Text 8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47</a:t>
            </a:r>
            <a:endParaRPr lang="en-US" sz="9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3.8 연대기 전시관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지침·백서·계획을 연도별 3D 복도에, 올해의 10대 뉴스와 변화의 벽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398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I_chron_t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4343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39건의 정책·지침 이벤트를 연도 플라크로 전시(링크만, AI 요약).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올해의 10대 뉴스: 시군구 중앙값의 전년 대비 변화에서 자동 산출(역대 기록 가산).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변화의 벽: 요약집 25개 지표의 연도별 변화 애니메이션. 「개선 1.8%p」처럼 말로 표시.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교육·발표 도입부에 「자동 관람」을 켜 두면 배경 설명이 됩니다.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48</a:t>
            </a:r>
            <a:endParaRPr lang="en-US" sz="9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3.9 조사 단위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보건소 조사 단위 258곳과 보건기관 3,607곳(보건지소·진료소 등) 연결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877460" y="1252728"/>
            <a:ext cx="6108920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J_units_01_조사_단위_지도_시군구_보건소_확인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4892" y="1280160"/>
            <a:ext cx="6054056" cy="4983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지역사회건강조사 조사 단위 ↔ KOSIS 코드 전량 매핑, 연도별 참여 단위.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시도별 보건기관 수(KOSIS 2025)와 공공데이터포털 지역보건의료기관 현황(2025-12-31).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수원시 4개 보건소처럼 시군구 하나에 조사 단위가 여럿인 경우를 확인합니다.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보건소 단위 순위(「보건소 단위」 탭)는 이 목록을 기준으로 합니다.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49</a:t>
            </a:r>
            <a:endParaRPr lang="en-US" sz="9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3.10 자료원 — 카드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기관 · 지표 수 · 연도 · 단위 · 갱신 주기 · 다음 공표 · 표 ID · 최종 갱신일 · 경유 · 산식 · 한계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2038056" y="1252728"/>
            <a:ext cx="3787729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K_sources_01_자료원_11종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65488" y="1280160"/>
            <a:ext cx="3732865" cy="4983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 출처 기관 기준 11종. 김동현 교수 DB(질병관리청 자료실)는 원천이 아니라 「경유」로 표기.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 산출 2종에는 「근사·공식 아님」 배지와 한계 4가지.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「지역별 실제 숫자는 어느 화면에서 볼 수 있는지」 안내.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보고서 「자료원」 절은 이 카드 내용을 그대로 옮기면 됩니다.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50</a:t>
            </a:r>
            <a:endParaRPr lang="en-US" sz="9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3.10 자료원 — 보건소별 보유 매트릭스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258행 × 자료원별 ●◐○ · 검색 · 결측 필터 · CSV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314831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K_sources_02_보건소별_자료_보유_현황_258_25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425996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● 그 단위로 값 있음 · ◐ 소속 시군구 값으로 대체 · ○ 없음.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결측은 4곳뿐(군위군 건강수명, 창원 3개 보건소 박탈지수).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보건소 행을 검색해 어떤 자료가 시군구 값으로 대체되는지 먼저 확인하십시오.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51</a:t>
            </a:r>
            <a:endParaRPr lang="en-US" sz="9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3.11 의견·문의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없이 이메일로 받습니다 · 보고 있던 화면 주소와 브라우저 정보 자동 첨부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3973249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L_feedback_00_의견_문의_서버_없이_이메일로_받습니다_입력_중인_글은_이_브라우저에_자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391838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구분(오류·수정 의견·자료 문의·기타) · 내용 · 이름/소속 · 회신 이메일.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✉ 이메일 앱으로 보내기 / 📋 내용 복사(카카오톡 등에 붙여넣기) / 🐙 GitHub 이슈(개발자용).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쓰던 글은 브라우저에 자동 저장. 자주 묻는 질문 5개.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오류를 신고할 때는 지표명·지역·연도와 함께 「화면 링크 첨부」를 켜 두십시오.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52</a:t>
            </a:r>
            <a:endParaRPr lang="en-US" sz="9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1732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1031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FB4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4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5603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시나리오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5661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업무 흐름에 맞춰 어떤 메뉴를 어떤 순서로 쓰는지 다섯 가지 예를 듭니다.</a:t>
            </a:r>
            <a:endParaRPr lang="en-US" sz="15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시나리오 1 — 지역보건의료계획 「현황 분석」 작성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 1시간이면 그림·표·근거를 갖춘 초안이 나옵니다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프로파일 열기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시군구 선택 → 영역 점수·등급·강점 TOP5·개선 TOP5를 캡처(↓PNG).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757830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40710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94071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940710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지표 6~8개 고르기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940710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TOP5 + 요약집 25개 중 중요 지표. 각 지표의 추이·순위 카드를 ↓SVG로 저장.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058461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241341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241341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241341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동류군·형평성 보강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241341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동류군 비교로 「여건 대비」 위치, 건강형평성 카드로 박탈 분위별 격차를 한 줄씩.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359091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541971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541971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7541971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자료원 절 작성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541971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자료원 탭 카드에서 기관·연도·산식·한계를 옮겨 적기. 자체 산출 지표는 「근사」 표기.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659722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842602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842602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9842602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 공유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9842602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심의 위원에게 화면 주소를 보내 같은 화면을 보게 하기.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54</a:t>
            </a:r>
            <a:endParaRPr lang="en-US" sz="9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시나리오 2 — 사업 우선순위 정하기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황금다이아몬드 + 근거 지침 + 동류군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황금다이아몬드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「최근 3년 vs 이전 3년」로 악화+나쁨(1순위) 지표를 추립니다.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757830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40710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94071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940710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무엇부터 손댈 것인가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940710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하위 지표를 근거 판정 순으로 정렬해 「현행 근거 있음」부터 고릅니다.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058461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241341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241341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241341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 지침 확인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241341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 분석의 근거 카드에서 NICE 가이드라인 번호·권고 문장을 인용.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359091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541971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541971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7541971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예방·관리 사업 찾기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541971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과제에서 권고 사업 카드를 열어 시도·국가 계획의 사업명을 확인.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659722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842602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842602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9842602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동류군으로 검증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9842602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여건의 12곳과 비교해 정말 우리만 나쁜지 확인합니다.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55</a:t>
            </a:r>
            <a:endParaRPr lang="en-US" sz="9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시나리오 3 — 성과지표 목표치 세우기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성과지표 탭의 5종 산식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성과지표 탭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보유 13개 지표의 최근값·추세·전국 중앙값을 확인.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757830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40710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94071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940710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5종 산식 비교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940710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전년 대비·추세 연장·중앙값 도달·상위 25%·격차 절반 중 현실적인 값 선택.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058461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241341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241341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241341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신뢰구간 확인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241341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순위 카드에서 ±오차를 보고 목표 폭이 오차보다 큰지 점검.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359091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541971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541971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7541971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계산기로 득점 예상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541971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목표·실적을 넣어 달성률·득점을 미리 계산.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659722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842602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842602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9842602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연도별 추이표 CSV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9842602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기준값 3년 평균을 표로 첨부.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56</a:t>
            </a:r>
            <a:endParaRPr lang="en-US" sz="9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시나리오 4 — 의회·주민 설명자료 만들기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영상 · 인쇄 · SVG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 고르기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변화가 큰 지표(비만율·걷기 실천율 등)를 고릅니다.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757830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40710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94071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940710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보기 → 영상 저장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940710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시도 내 시군구 탭에서 🎬 영상 저장(자동 범위). 파워포인트에 삽입.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058461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241341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241341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241341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인쇄본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241341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🖨 인쇄로 한 줄 순위표를 PDF로 저장해 배포.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359091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541971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541971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7541971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10개 묶음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541971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순위 대신 묶음으로 표기해 「몇 위」 논쟁을 피합니다.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659722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842602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842602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9842602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 표기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9842602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"자료: 질병관리청 지역사회건강조사(KOSIS) 등 · 지역 건강프로파일 대시보드".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57</a:t>
            </a:r>
            <a:endParaRPr lang="en-US" sz="9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시나리오 5 — 감염병 대비 대상 규모 산정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고위험군 카드 + 코로나19 참고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고위험군 카드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65세 이상·기저질환·시설 정원·임신부·영유아 규모를 확인(실측/추정 구분).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757830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40710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94071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940710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집단별 표 CSV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940710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30개 집단의 인원·인구 대비·시도 순위를 CSV로 저장.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058461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241341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241341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241341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코로나19 참고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241341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누적 확진율·사망·치명률을 시도·전국 중앙값과 비교(순위 아님).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359091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541971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541971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7541971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4분위 치명률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541971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65세 이상 비율이 높을수록 치명률 2배 — 대비 필요성의 근거.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659722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842602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842602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9842602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주의문 인용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9842602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 관할 기준·연령별 자료 없음을 반드시 함께 적습니다.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58</a:t>
            </a:r>
            <a:endParaRPr lang="en-US" sz="9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1732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1031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FB4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5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5603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 주의와 자주 묻는 질문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5661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숫자를 잘못 읽으면 도구가 오히려 해가 됩니다. 다섯 가지 주의와 FAQ.</a:t>
            </a:r>
            <a:endParaRPr lang="en-US" sz="15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 주의 ① 순위의 함정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11274552" cy="1234440"/>
          </a:xfrm>
          <a:prstGeom prst="roundRect">
            <a:avLst>
              <a:gd name="adj" fmla="val 7407"/>
            </a:avLst>
          </a:prstGeom>
          <a:solidFill>
            <a:srgbClr val="FBEDEA"/>
          </a:solidFill>
          <a:ln w="9525">
            <a:solidFill>
              <a:srgbClr val="F2C9C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188720"/>
            <a:ext cx="457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1298448"/>
            <a:ext cx="10360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인접 순위 차이는 대부분 의미가 없습니다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1618488"/>
            <a:ext cx="103601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표본조사 지표는 표본오차가 있습니다. 신뢰구간이 겹치는 지역끼리는 「차이가 있다」고 말할 수 없습니다. 순위 카드의 ⟺ 신뢰구간과 ⑩ 묶음을 쓰십시오.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57200" y="2606040"/>
            <a:ext cx="11274552" cy="1234440"/>
          </a:xfrm>
          <a:prstGeom prst="roundRect">
            <a:avLst>
              <a:gd name="adj" fmla="val 7407"/>
            </a:avLst>
          </a:prstGeom>
          <a:solidFill>
            <a:srgbClr val="FBEDEA"/>
          </a:solidFill>
          <a:ln w="9525">
            <a:solidFill>
              <a:srgbClr val="F2C9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2606040"/>
            <a:ext cx="457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715768"/>
            <a:ext cx="10360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불안정값이 많은 지표는 순위를 쓰지 마십시오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1097280" y="3035808"/>
            <a:ext cx="103601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우울증상 유병률은 표준화율 기준 시군구 값(2017~2025)의 62%가 불안정값입니다. 이런 지표는 시도 단위나 여러 해 평균으로만 말하십시오.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57200" y="4023360"/>
            <a:ext cx="11274552" cy="1234440"/>
          </a:xfrm>
          <a:prstGeom prst="roundRect">
            <a:avLst>
              <a:gd name="adj" fmla="val 7407"/>
            </a:avLst>
          </a:prstGeom>
          <a:solidFill>
            <a:srgbClr val="FBEDEA"/>
          </a:solidFill>
          <a:ln w="9525">
            <a:solidFill>
              <a:srgbClr val="F2C9C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94360" y="4023360"/>
            <a:ext cx="457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4133088"/>
            <a:ext cx="10360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임팩트 지표(사망·유병)는 사업 성과가 아닙니다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1097280" y="4453128"/>
            <a:ext cx="103601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변화가 느리고 원인이 여럿이라 사업 귀인이 불가능합니다. 계층 배지가 「임팩트」인 지표는 「기여」로만 표현하십시오.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60</a:t>
            </a:r>
            <a:endParaRPr lang="en-US" sz="9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 주의 ② 자체 산출 지표와 정의 변경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11274552" cy="1234440"/>
          </a:xfrm>
          <a:prstGeom prst="roundRect">
            <a:avLst>
              <a:gd name="adj" fmla="val 7407"/>
            </a:avLst>
          </a:prstGeom>
          <a:solidFill>
            <a:srgbClr val="FBEDEA"/>
          </a:solidFill>
          <a:ln w="9525">
            <a:solidFill>
              <a:srgbClr val="F2C9C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188720"/>
            <a:ext cx="457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1298448"/>
            <a:ext cx="10360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건강수명·지역박탈지수는 「근사」입니다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1618488"/>
            <a:ext cx="103601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「건강수명(주관적 건강 기반·근사)」·「지역박탈지수(근사, 총조사 집계표)」로만 부르고, 절대값·연도 간 비교·1~2위 차이 강조를 피하십시오. 한계 4가지가 자료원 카드에 있습니다.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57200" y="2606040"/>
            <a:ext cx="11274552" cy="1234440"/>
          </a:xfrm>
          <a:prstGeom prst="roundRect">
            <a:avLst>
              <a:gd name="adj" fmla="val 7407"/>
            </a:avLst>
          </a:prstGeom>
          <a:solidFill>
            <a:srgbClr val="FBEDEA"/>
          </a:solidFill>
          <a:ln w="9525">
            <a:solidFill>
              <a:srgbClr val="F2C9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2606040"/>
            <a:ext cx="457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715768"/>
            <a:ext cx="10360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2018년 검진 제도 개편으로 정의가 바뀐 지표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1097280" y="3035808"/>
            <a:ext cx="103601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검진 고혈압·당뇨 판정 비율(2차 판정)은 2017년에서 끝나고, 2018년부터는 1차 판정 의심·유질환자 4종이 별도입니다. 정상A 비율은 2017→2018년에 계단이 있습니다. ⚠ 안내문이 있는 지표는 경계 전후 비교를 하지 마십시오.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57200" y="4023360"/>
            <a:ext cx="11274552" cy="1234440"/>
          </a:xfrm>
          <a:prstGeom prst="roundRect">
            <a:avLst>
              <a:gd name="adj" fmla="val 7407"/>
            </a:avLst>
          </a:prstGeom>
          <a:solidFill>
            <a:srgbClr val="FBEDEA"/>
          </a:solidFill>
          <a:ln w="9525">
            <a:solidFill>
              <a:srgbClr val="F2C9C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94360" y="4023360"/>
            <a:ext cx="457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4133088"/>
            <a:ext cx="10360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코로나19 자료는 신고 보건소 관할 기준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1097280" y="4453128"/>
            <a:ext cx="103601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사망은 사망 장소(병원) 관할로 집계되어 상급종합병원이 있는 지역이 높게 나옵니다. 시군구 순위를 매기지 말고 시도·중앙값 비교만 하십시오.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61</a:t>
            </a:r>
            <a:endParaRPr lang="en-US" sz="9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자주 묻는 질문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801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80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2801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자료는 언제 갱신되나요?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830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지역사회건강조사 12월, 사망원인통계 9월 하순, 공단 검진통계 연말~연초. 각 자료원 카드의 「다음 공표」를 보십시오.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231636" y="10972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14516" y="12801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14516" y="1280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008876" y="12801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지역 값이 비어 있어요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414516" y="17830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보건소 단위와 시군구 단위가 다르거나 원천에 값이 없는 경우입니다. 자료원 탭의 매트릭스에서 ●◐○를 확인하십시오.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29260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31089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3108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234440" y="31089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그림을 보고서에 쓰고 싶어요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6118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↓SVG(편집 가능)·↓PNG·↓CSV, 전체 보기의 인쇄·영상. 출처는 「자료: 질병관리청 지역사회건강조사(KOSIS) 등 · 지역 건강프로파일 대시보드」.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231636" y="29260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14516" y="31089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14516" y="3108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7008876" y="31089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휴대폰에서 저장이 안 돼요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414516" y="36118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카카오톡·인스타그램 안의 브라우저는 저장이 막혀 있습니다. 「다른 브라우저로 열기」 또는 크롬·사파리에서 여십시오.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62</a:t>
            </a:r>
            <a:endParaRPr lang="en-US" sz="9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문의와 개선 요청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801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80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✉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2801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이메일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830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khealth.profile@gmail.com — 「의견·문의」 메뉴에서 보내면 화면 주소가 자동으로 붙습니다.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231636" y="10972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14516" y="12801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14516" y="1280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🌐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008876" y="12801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414516" y="17830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https://health-profile.kr (동일 내용: soonryu74.github.io/health-dashboard)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29260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31089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3108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📚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234440" y="31089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방법론 문서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6118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건강수명 산출법 · 지역박탈지수 산출 · 지표 방향성 · 랭킹 방법론 · 지역보건사업 평가이론 · 데이터 최신성 점검 — 저장소 docs 폴더.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231636" y="29260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14516" y="31089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14516" y="3108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🔄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7008876" y="31089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갱신 내역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414516" y="36118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 사항은 「자료원」 탭과 「연대기 전시관」에 반영됩니다. 이 설명서는 화면이 바뀌면 함께 갱신합니다.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63</a:t>
            </a:r>
            <a:endParaRPr lang="en-US" sz="9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1732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3774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감사합니다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3832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· https://health-profile.kr · khealth.profile@gmail.com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64</Slides>
  <Notes>64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64</vt:i4>
      </vt:variant>
    </vt:vector>
  </HeadingPairs>
  <TitlesOfParts>
    <vt:vector size="6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지역 건강프로파일 대시보드 사용설명서</dc:title>
  <dc:subject>PptxGenJS Presentation</dc:subject>
  <dc:creator>지역 건강프로파일 대시보드</dc:creator>
  <cp:lastModifiedBy>지역 건강프로파일 대시보드</cp:lastModifiedBy>
  <cp:revision>1</cp:revision>
  <dcterms:created xsi:type="dcterms:W3CDTF">2026-09-24T09:55:32Z</dcterms:created>
  <dcterms:modified xsi:type="dcterms:W3CDTF">2026-09-24T09:55:32Z</dcterms:modified>
</cp:coreProperties>
</file>