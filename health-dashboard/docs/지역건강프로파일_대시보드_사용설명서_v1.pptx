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3.xml"/><Relationship Id="rId9" Type="http://schemas.openxmlformats.org/officeDocument/2006/relationships/slide" Target="slide72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3.xml"/><Relationship Id="rId9" Type="http://schemas.openxmlformats.org/officeDocument/2006/relationships/slide" Target="slide72.xml"/><Relationship Id="rId10" Type="http://schemas.openxmlformats.org/officeDocument/2006/relationships/slide" Target="slide72.xml"/><Relationship Id="rId11" Type="http://schemas.openxmlformats.org/officeDocument/2006/relationships/slide" Target="slide72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2.xml"/><Relationship Id="rId9" Type="http://schemas.openxmlformats.org/officeDocument/2006/relationships/slide" Target="slide72.xml"/><Relationship Id="rId10" Type="http://schemas.openxmlformats.org/officeDocument/2006/relationships/slide" Target="slide72.xml"/><Relationship Id="rId11" Type="http://schemas.openxmlformats.org/officeDocument/2006/relationships/slide" Target="slide72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slide" Target="slide7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2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3.xml"/><Relationship Id="rId1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3" Type="http://schemas.openxmlformats.org/officeDocument/2006/relationships/slide" Target="slide72.xm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72.xm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74.xml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slide" Target="slide73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73.xml"/><Relationship Id="rId1" Type="http://schemas.openxmlformats.org/officeDocument/2006/relationships/image" Target="../media/image-3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image" Target="../media/image-4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image" Target="../media/image-4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image" Target="../media/image-4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3.xml"/><Relationship Id="rId3" Type="http://schemas.openxmlformats.org/officeDocument/2006/relationships/image" Target="../media/image-5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99004" y="1252728"/>
            <a:ext cx="2387272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436" y="1280160"/>
            <a:ext cx="233240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· 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2008~2025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2024년(원천 표가 다름)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「홈」(메인 화면)으로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⌕ 검색(메뉴·지표·지역·카드 찾기),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 버튼,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카드(예: 「기대수명 · 건강수명」은 지역 프로파일, 「지역 간 격차」는 지표 분석) · 지표 171개 · 지역(시도·시군구·보건소 조사 단위 258곳) · 자료원 · FAQ · 예방·관리 지식베이스 항목을 한 상자에서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해당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고르면 지금 보던 메뉴에서 그 지역으로 바뀝니다. 지표를 고르면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「건강수명」처럼 지표 이름이면서 카드 이름이기도 한 것은 둘 다 나옵니다 — 카드는 지역 프로파일의 요약, 지표는 지표 분석의 순위·지도·추이.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이름(예: 「장안」·「동부」)으로도 찾을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메인 화면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열면 나오는 카드 6장 · 카드를 누르면 해당 메뉴로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522790" y="1252728"/>
            <a:ext cx="281826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0222" y="1280160"/>
            <a:ext cx="276339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지도: 대표 지표 4종(흡연·고위험음주·비만·걷기)을 골라 시도별로 색칠합니다. 시도를 누르면 그 시도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상위 10곳과 「우리 보건소 찾기」. 하위 순위는 첫 화면에 싣지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내 지역 건강격차 빠르게 보기: 지역을 고르면 우선 검토 지표·최근 개선 지표·지역 간 격차가 큰 지표 3개(다음 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취약인구 규모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65세 이상·독거노인·등록장애인·기초생활수급자·영유아·외국인 주민의 전국 규모와 비율.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지자체 계획 수립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현황 분석 → 우선순위 → 목표치 → 사업 선정 4단계를 해당 메뉴로 연결합니다.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처음이세요?: 소개 영상(하이라이트 4분 19초·전체 8분 29초) 플레이어와 사용설명서·활용법 PDF/PPT 내려받기. 머리글 「? 도움말」로 어느 화면에서든 같은 창이 열립니다.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뒤에 아무것도 없이 열면 홈, 공유 링크는 그 화면으로 바로 열립니다. 제목이나 「홈」 탭으로 언제든 돌아옵니다.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내 지역 건강격차 빠르게 보기 · 영문 소개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 Equity Radar — 데이터에서 지역보건 행동으로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208865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home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203379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84248" y="3835908"/>
            <a:ext cx="3895344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N_ra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3863340"/>
            <a:ext cx="3840480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「보건소 또는 시군구를 검색하세요」에 이름을 치면 시도·시군구·보건소가 나옵니다(보건소는 소속 시군구로 연결).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카드 3개: 우선 검토 지표(지역 프로파일과 같은 계산) · 최근 개선 지표(최근 5년 개선 경향) · 지역 간 격차가 큰 지표(전국 상·하위 10% 평균 차이)와 우리 지역 위치.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Health Equity Profile 보기」로 지역 프로파일 맨 위 우선 검토 카드로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머리글 「EN」이나 health-profile.kr/solve 는 영문 소개(지표·지역·연도 수는 자료에서 자동 계산, 한국 배포만 명시).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진단이 아니라 「검토 순서」를 돕는 표시입니다. 숫자 하나로 결론 내리지 말고 프로파일에서 근거와 신뢰구간을 확인하십시오.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17개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「비교 범위」 드롭다운 하나로 지도·순위·격차·연도표가 함께 바뀝니다: 전국 17개 시도 / 전국 시군구 / 시도 내 시군구(17개 시도 중 선택)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147445" y="1252728"/>
            <a:ext cx="35689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877" y="1280160"/>
            <a:ext cx="35140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9768" y="3835908"/>
            <a:ext cx="7004304" cy="181219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A_sc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63340"/>
            <a:ext cx="6949440" cy="1757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시도는 광역 단위 보고에, 전국 시군구는 전국 분포 파악에 쓰십시오.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 — ○○」를 고르면 선택 지역도 그 시도로 옮겨집니다.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63776" y="1024128"/>
            <a:ext cx="3736288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208" y="1051560"/>
            <a:ext cx="3681424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63776" y="3721608"/>
            <a:ext cx="3736288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208" y="3749040"/>
            <a:ext cx="3681424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53850" y="1252728"/>
            <a:ext cx="395614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82" y="1280160"/>
            <a:ext cx="390127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10년 추세(2015년 이후 연간 변화)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지역마다 직선 기울기(연간 변화량)를 구해 비교 집단 안에서 좋음·보통·나쁨 3분위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7] 김동현·정혜선·임은실·백은미·김남희·최은희·정승민·안효정(한국건강증진개발원 연구용역), 지역사회 통합건강증진사업의 건강증진 효과성 분석 연구: 요약 정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[27]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89503" y="1252728"/>
            <a:ext cx="2409947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tr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935" y="1280160"/>
            <a:ext cx="2355083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연간 변화와 그룹·순위, 그룹별 평균 기울기, 통합건강증진사업 도입 전(2008~2014)·후 비교, 기울기 분포 막대.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기간은 2015~최신 또는 2015~2024(연구 기간)로 바꿉니다. 비교 집단은 상단 「비교 범위」를 따릅니다.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기울기 차이는 사업 효과만이 아니라 재정자립도·고령화 같은 지역 여건과 함께 움직입니다(연관지표 탭의 「10년 변화 기울기」로 확인).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해마다 표본오차가 있어 기울기도 오차를 품습니다. 「좋음/나쁨」은 참고용입니다.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집단은 상단 「비교 범위」를 따릅니다(17개 시도 · 전국 시군구 · 시도 내 시군구) — 지역사회건강조사 지표는 조사 단위 258곳 기준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5234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685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065" y="1252728"/>
            <a:ext cx="22878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497" y="1280160"/>
            <a:ext cx="2233007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시도를 고르면 「시도 내 시군구」, 시군구를 고르면 「전국 시군구」가 기본입니다. 사망률 등 시군구 자료는 「보건소 단위」 버튼으로 258곳 기준으로 펼쳐 볼 수 있습니다.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897678" y="1252728"/>
            <a:ext cx="206848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110" y="1280160"/>
            <a:ext cx="201362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75897" y="1252728"/>
            <a:ext cx="411204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3329" y="1280160"/>
            <a:ext cx="405718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42445" y="1252728"/>
            <a:ext cx="25040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877" y="1280160"/>
            <a:ext cx="24491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 「CPSTF 권고 N건 보기」를 펼치면 권고마다 판정·연도와 원문 링크(Community Guide)가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우리 지역 우선 검토 항목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 Equity Priority · 지역보건 검토 순서를 돕는 표시(진단·처방 아님) · 강원 강릉시 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810330" y="1252728"/>
            <a:ext cx="6568291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eq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7762" y="1280160"/>
            <a:ext cx="6513427" cy="271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맨 위. 지역사회건강조사 지표 40개(토글로 전체 방향 지표 130개) 중 우선 검토 3개를 영역당 1개씩 보여 줍니다.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지역 값 · 전국 중앙값 · 상대 위치(구간) · 최근 추세 · 사회경제적 취약성(박탈 분위).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등급: ▲ 우선 검토 · ● 관찰 필요 · ✓ 상대적으로 양호 · ? 자료 부족 — 색과 글자를 함께 씁니다.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계산(내부용 기술 점수, 공식 지수 아님): 격차 35% · 상대 위치 25% · 최근 추세 20% · 박탈 20%. 없는 요소는 0이 아니라 빼고 다시 나눕니다. 95% 신뢰구간이 전국 중앙값을 포함하거나 상대표준오차가 20%를 넘으면 「우선 검토」로 올리지 않습니다.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아래 「전체 판정 40개 보기」「계산 방법」「데이터 출처와 한계」를 펼쳐 근거를 함께 제시하십시오.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왜 우선인가 · 참고할 수 있는 예방·관리 자료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사실만 적고, 공식 자료는 「검토 가능한 근거·참고 가능한 중재」로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170479" y="1252728"/>
            <a:ext cx="19567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eq_i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911" y="1280160"/>
            <a:ext cx="1901859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309656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N_info_p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30416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우선인가?: 전국 중앙값 대비 차이 · 불리한 방향 상위 몇 % · 최근 5년 연간 변화 · 박탈 분위 · 신뢰구간. 박탈과 지표는 「~지역이며, 이 지표도 불리한 수준」처럼 나란히만 적습니다(인과 표현 없음).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자료: 예방·관리 지식베이스(시도 계획 → 국가 → WHO, 수집일 표기) · NICE 지침 · CPSTF 권고 · 같은 영역 우수사례 수. 없으면 「근거 부족 · 추가 검토 필요」.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버튼: 공식 자료 보기 · 관련 지표 보기 · 유사 지역 비교(동류군 카드로) · 연도별 변화 보기.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ⓘ 지표 정보: 자료원 · 조사연도 · 원 통계표 · 표준화 여부 · 방향 · 업데이트 · 주의사항.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화면은 정책 처방이 아닙니다. 실제 사업은 지역 여건과 전문가 검토로 정하십시오.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68334" y="1252728"/>
            <a:ext cx="392717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766" y="1280160"/>
            <a:ext cx="387230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68334" y="3835908"/>
            <a:ext cx="392717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766" y="3863340"/>
            <a:ext cx="387230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9356" y="1252728"/>
            <a:ext cx="386512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88" y="1280160"/>
            <a:ext cx="381026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2716" y="1252728"/>
            <a:ext cx="293840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0148" y="1280160"/>
            <a:ext cx="288354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형평성 요약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담은 지역(전국 중앙값 제외)을 한 표로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41738" y="1252728"/>
            <a:ext cx="7705475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compare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9170" y="1280160"/>
            <a:ext cx="7650611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열: 현재 수준 · 전국 중앙값 대비 차이(작은 막대 + 불리/양호 글자) · 최근 추세 · 상대순위 · 박탈 분위 · 지역별 우선 검토 지표 3개.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이름을 누르면 그 지역 프로파일로 갑니다.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 차트 대신 표로 보여 줍니다 — 같은 화면의 다른 표·막대와 읽는 법이 같습니다.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동류군 2곳을 담으면 「여건이 비슷한 곳과 무엇이 다른가」를 한눈에 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6299" y="1252728"/>
            <a:ext cx="479124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4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31" y="1280160"/>
            <a:ext cx="4736378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04263" y="3835908"/>
            <a:ext cx="3655314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695" y="3863340"/>
            <a:ext cx="3600450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1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565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1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565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복합 취약 신호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지표에서 동시에 불리한 쪽 상위 N%에 드는 시군구를 겹쳐 보기 · 고위험 판정 아님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293605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hot_multi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288119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293605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N_hot_multi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288119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칩: 높은 흡연율 · 높은 비만율 · 낮은 걷기 실천율 · 높은 고위험음주율 · 낮은 인플루엔자 예방접종률 · 높은 지역박탈지수 + 「지표 추가」.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기준(불리한 쪽 상위 10·20·25·33%)과 규칙(모두 충족 / N개 이상)을 고릅니다. 지도 색 = 충족 개수, 굵은 테두리 = 복합 취약 신호.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최신 연도가 다르고(박탈지수 2020년), 표본조사 값은 기준선 근처 지역이 해마다 바뀔 수 있습니다.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공동사업이나 형평성 우선 지역을 고를 때 「후보 목록」으로 쓰고, 개별 지역은 프로파일에서 다시 확인하십시오.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0051" y="1252728"/>
            <a:ext cx="334373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7483" y="1280160"/>
            <a:ext cx="328887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김동현·정혜선·임은실·백은미·김남희·최은희·정승민·안효정(한국건강증진개발원 연구용역), 「지역사회 통합건강증진사업의 건강증진 효과성 분석 연구: 요약 정리」.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2025-11-03 발표자료 · 2015~2024 시군구 229곳 남성흡연율·고위험음주율·걷기실천율·비만율의 10년 변화 기울기 3분위와 사회적 여건·보건세출 비교, 유사지역군 층화, 상·하위 10% 격차 추세 · 비공개 발표자료(소유자 제공) · 갱신 2025-11-03 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2026-10-04T01:18:53Z</dcterms:created>
  <dcterms:modified xsi:type="dcterms:W3CDTF">2026-10-04T01:18:53Z</dcterms:modified>
</cp:coreProperties>
</file>