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성격을 먼저 분명히 한다. 결과지표(사망·유병)는 사업 기여로만 해석한다.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CIAT는 질병관리청 수도권질병대응센터·서울대 원성호 교수팀 연구용역. 구조를 참조했다.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7.xml"/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" Target="slide66.xml"/><Relationship Id="rId5" Type="http://schemas.openxmlformats.org/officeDocument/2006/relationships/slide" Target="slide66.xml"/><Relationship Id="rId6" Type="http://schemas.openxmlformats.org/officeDocument/2006/relationships/slide" Target="slide66.xml"/><Relationship Id="rId7" Type="http://schemas.openxmlformats.org/officeDocument/2006/relationships/slide" Target="slide66.xml"/><Relationship Id="rId8" Type="http://schemas.openxmlformats.org/officeDocument/2006/relationships/slide" Target="slide67.xml"/><Relationship Id="rId9" Type="http://schemas.openxmlformats.org/officeDocument/2006/relationships/slide" Target="slide66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" Target="slide66.xml"/><Relationship Id="rId5" Type="http://schemas.openxmlformats.org/officeDocument/2006/relationships/slide" Target="slide66.xml"/><Relationship Id="rId6" Type="http://schemas.openxmlformats.org/officeDocument/2006/relationships/slide" Target="slide66.xml"/><Relationship Id="rId7" Type="http://schemas.openxmlformats.org/officeDocument/2006/relationships/slide" Target="slide66.xml"/><Relationship Id="rId8" Type="http://schemas.openxmlformats.org/officeDocument/2006/relationships/slide" Target="slide67.xml"/><Relationship Id="rId9" Type="http://schemas.openxmlformats.org/officeDocument/2006/relationships/slide" Target="slide66.xml"/><Relationship Id="rId10" Type="http://schemas.openxmlformats.org/officeDocument/2006/relationships/slide" Target="slide66.xml"/><Relationship Id="rId11" Type="http://schemas.openxmlformats.org/officeDocument/2006/relationships/slide" Target="slide66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" Target="slide66.xml"/><Relationship Id="rId5" Type="http://schemas.openxmlformats.org/officeDocument/2006/relationships/slide" Target="slide66.xml"/><Relationship Id="rId6" Type="http://schemas.openxmlformats.org/officeDocument/2006/relationships/slide" Target="slide66.xml"/><Relationship Id="rId7" Type="http://schemas.openxmlformats.org/officeDocument/2006/relationships/slide" Target="slide66.xml"/><Relationship Id="rId8" Type="http://schemas.openxmlformats.org/officeDocument/2006/relationships/slide" Target="slide66.xml"/><Relationship Id="rId9" Type="http://schemas.openxmlformats.org/officeDocument/2006/relationships/slide" Target="slide66.xml"/><Relationship Id="rId10" Type="http://schemas.openxmlformats.org/officeDocument/2006/relationships/slide" Target="slide66.xml"/><Relationship Id="rId11" Type="http://schemas.openxmlformats.org/officeDocument/2006/relationships/slide" Target="slide66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67.xml"/><Relationship Id="rId2" Type="http://schemas.openxmlformats.org/officeDocument/2006/relationships/slide" Target="slide6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" Target="slide66.xml"/><Relationship Id="rId5" Type="http://schemas.openxmlformats.org/officeDocument/2006/relationships/slide" Target="slide66.xml"/><Relationship Id="rId6" Type="http://schemas.openxmlformats.org/officeDocument/2006/relationships/slide" Target="slide66.xml"/><Relationship Id="rId7" Type="http://schemas.openxmlformats.org/officeDocument/2006/relationships/slide" Target="slide66.xml"/><Relationship Id="rId8" Type="http://schemas.openxmlformats.org/officeDocument/2006/relationships/slide" Target="slide66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" Target="slide67.xml"/><Relationship Id="rId1" Type="http://schemas.openxmlformats.org/officeDocument/2006/relationships/image" Target="../media/image-2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66.xml"/><Relationship Id="rId3" Type="http://schemas.openxmlformats.org/officeDocument/2006/relationships/slide" Target="slide66.xml"/><Relationship Id="rId1" Type="http://schemas.openxmlformats.org/officeDocument/2006/relationships/image" Target="../media/image-2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66.xm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image" Target="../media/image-28-1.png"/><Relationship Id="rId3" Type="http://schemas.openxmlformats.org/officeDocument/2006/relationships/image" Target="../media/image-2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67.xml"/><Relationship Id="rId2" Type="http://schemas.openxmlformats.org/officeDocument/2006/relationships/slide" Target="slide67.xml"/><Relationship Id="rId3" Type="http://schemas.openxmlformats.org/officeDocument/2006/relationships/image" Target="../media/image-3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67.xml"/><Relationship Id="rId1" Type="http://schemas.openxmlformats.org/officeDocument/2006/relationships/image" Target="../media/image-3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image" Target="../media/image-3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66.xml"/><Relationship Id="rId1" Type="http://schemas.openxmlformats.org/officeDocument/2006/relationships/image" Target="../media/image-4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67.xml"/><Relationship Id="rId2" Type="http://schemas.openxmlformats.org/officeDocument/2006/relationships/image" Target="../media/image-4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7.xml"/><Relationship Id="rId3" Type="http://schemas.openxmlformats.org/officeDocument/2006/relationships/image" Target="../media/image-5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hyperlink" Target="https://www.mohw.go.kr/board.es?mid=a10503010100&amp;bid=0027&amp;act=view&amp;list_no=1490911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자료 소개 · 활용법 · 메뉴별 설명과 활용 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9월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51950" y="1252728"/>
            <a:ext cx="2881381" cy="426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9382" y="1280160"/>
            <a:ext cx="282651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CIAT와의 관계 · 담긴 자료 · 지역 단위 · 값의 종류 · 갱신 주기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· 화면 구성 · 지표/지역/연도 선택 · 주소 공유 · 화면 설정 · 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· 지표 분석 · 지역 프로파일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설정 · 설명자료 제작 · 감염병 대비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함정 · 자체 산출 지표 표기 · 정의 변경 · 코로나19 자료 · FAQ · 문의 · 참고문헌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대시보드는 공표 통계를 모아 시군구·보건소 단위 건강수준을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대시보드의 목적과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보건소·시군구 담당자가 우리 지역 건강수준을 파악하고 계획서·보고서를 만드는 데 쓰는 도구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우리 지역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타일·지도·추이·순위·연도별 표·격차가 한 화면에 나옵니다(질병관리청 CIAT의 6패널 구성과 같음).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자동 생성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 → 영역 점수 · 강점 TOP5 · 개선 TOP5 · 건강수명 · 동류군 비교 · 우선순위 카드가 자동으로 만들어집니다.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출처를 함께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방향(높을수록 좋음/나쁨)·계층(투입·성과·임팩트)·NICE/CPSTF 근거 지침 · 자료 출처와 산식이 화면에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평가 도구가 아닙니다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자료는 담고 있지 않습니다. 건강수준의 변화를 보고 목표치를 세우는 데 쓰되, 사업 성과를 판정하는 근거로는 쓰지 마십시오.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지역사회건강지표 분석도구)와 무엇이 같고 다른가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대시보드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구성 + 신뢰구간·10개 묶음·전체 보기 1열·인쇄·영상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 탐색·핫스팟·황금다이아몬드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3종(브라우저에서 즉시 계산) + 근거 지침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98개 · e-지방지표 157개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41개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사망·감염병·의료이용·자원·인구·환경 지표 115개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일반검진 4개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건강수명 3개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박탈지수 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17곳 · 시군구 229곳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 배지·강점/개선·동류군·우선순위·고위험군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자료원 탭(산식·한계·다음 공표일), 산출 예시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 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파일(서버 없음) — 휴대폰·오프라인에서도 열림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담긴 자료 한눈에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「2025 지역건강통계 한눈에 보기」 기준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시도 17곳 · 시군구 229곳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사망원인 2008~2025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검진 2010~2024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공표 통계에서 가져왔고, 자체 산출 2종(건강수명·지역박탈지수)은 「근사」로 표기합니다.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자료별 출처·산식·최종 갱신일·다음 공표 예정은 「자료원」 탭에서 볼 수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이해하기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「보건소」라도 자료마다 단위가 다릅니다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17개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「17개 시도 순위」에 쓰입니다. 세종은 단층제라 시도 값이 곧 시군구 값입니다.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229개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기초자치단체 226곳 + 제주 행정시 2곳 + 세종시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사망률·검진·인구 등 시군구 단위 자료의 순위 기준입니다. 수원시처럼 일반구가 있는 시는 시 전체 값을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지역사회건강조사의 조사 단위이자 이 지표들의 전국 순위·중앙값 기준입니다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(강남구보건소, 수원시 장안구보건소 등). 질병관리청 공표 방식과 같습니다. 「조사 단위」 탭과 「보건소 단위」 순위에서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●◐○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유무 표기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 「자료원」 탭의 258행 매트릭스에서 보건소별로 확인합니다.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종류와 지표의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추이 카드에 표시되는 배지의 뜻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조율은 있는 그대로의 비율, 표준화율은 연령 구조 차이를 보정한 값입니다. 지역 간 비교에는 표준화율(기본값), 우리 지역 실제 규모 파악에는 조율을 쓰십시오.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양호」(걷기 실천율 등)·「낮을수록 양호」(흡연율·사망률 등)·「맥락」(인구·진료비처럼 좋고 나쁨이 없는 값). 지도 색과 순위 방향이 이에 따라 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결과사슬 계층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투입·과정 → 산출 → 성과 → 임팩트 → 맥락. 임팩트(사망·유병)는 변화가 느리고 사업 귀인이 어려워 순위 비교에 부적합하다고 표시합니다.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지표는 표본조사라 오차가 있습니다. 순위 카드에서 95% 신뢰구간을 켜고, 표준오차가 값의 20%를 넘는 「불안정값」은 제외할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반영합니다 · 최신 상태는 「자료원」 탭 카드의 「최종 갱신」·「다음 공표」 참고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41개 중 심폐소생술 2종은 원천 표에 2025년 값이 없음(2024년까지)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2025년분 2026-09-22 공표 → 9-25 반영. 영아사망률만 2024년(원천 표가 다름)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미세먼지·초미세먼지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의료기관 진료실인원(인구 천명당)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등록장애인 비율 2017 · 사회복지시설·교통사고 건수 2022 · 병상 수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대기(지표별 최신 연도는 자료원 탭)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종료.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주소를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지원 환경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https://soonryu74.github.io/health-dashboard/ 에서도 열립니다. 파일 하나로 되어 있어 처음 열 때 10MB 정도를 내려받은 뒤에는 빠르게 동작합니다.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브라우저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크롬·엣지 최신 버전을 권장합니다. 영상 저장(MP4)은 크롬·엣지·최신 사파리에서 됩니다. 인터넷 익스플로러는 지원하지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휴대폰·태블릿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표는 좌우로 밀어서 봅니다. 카카오톡 안의 브라우저는 파일 저장이 막혀 있으니 「다른 브라우저로 열기」를 누르십시오.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개인정보·로그인 없음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없고 아무것도 서버로 보내지 않습니다. 입력한 의견·문의 초안만 내 브라우저에 저장됩니다.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큰 숫자는 만 단위로 읽기 쉽게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7001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444" y="1280160"/>
            <a:ext cx="2302793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3617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mobil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4" y="1280160"/>
            <a:ext cx="2302793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분석·프로파일·모든 메뉴가 휴대폰에서 동작합니다.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좌우로 밀어서 보고, 순위 목록은 40개 이하면 한 줄로 전부 펼쳐집니다.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버튼은 공유 시트로 열립니다(갤러리·카카오톡).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오른쪽 위 메뉴의 「다른 브라우저로 열기」를 먼저 누르십시오.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홈) · 메뉴 탭 · 선택 컨트롤 · 연도 · 요약 타일 · 카드들 · 하단 출처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「홈」(메인 화면)으로 돌아갑니다.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메뉴 탭 12개: 홈 ·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⌕ 검색(메뉴·지표·지역·카드 찾기), A−/A+ 글자 크기, 다크 모드 전환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연도 슬라이더와 ▶ 재생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담기므로 주소만 복사해 보내면 같은 화면이 열립니다.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— 어느 메뉴에 있든 이름만 치면 갑니다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「⌕ 검색」 버튼, 또는 키보드 / · Ctrl+K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83084" y="1252728"/>
            <a:ext cx="509767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516" y="1280160"/>
            <a:ext cx="5042807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12개 · 화면 안 카드(예: 「기대수명 · 건강수명」은 지역 프로파일, 「지역 간 격차」는 지표 분석) · 지표 171개 · 지역(시도·시군구·보건소 조사 단위 258곳) · 자료원 · FAQ · 예방·관리 지식베이스 항목을 한 상자에서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누르면 그 메뉴로 옮겨 가 해당 카드까지 내려가고 2초간 테두리가 깜박입니다.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고르면 지금 보던 메뉴에서 그 지역으로 바뀝니다. 지표를 고르면 지표 분석으로 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 이동 · Enter 열기 · Esc 닫기.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「건강수명」처럼 지표 이름이면서 카드 이름이기도 한 것은 둘 다 나옵니다 — 카드는 지역 프로파일의 요약, 지표는 지표 분석의 순위·지도·추이.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이름(예: 「장안」·「동부」)으로도 찾을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picker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 넣어도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사망률·감염병·검진·자원·인구·환경·암검진·건강수명·지역박탈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앞의 작은 글씨가 영역, 뒤의 배지가 방향·계층입니다.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지표를 먼저 보십시오(연대기 「변화의 벽」에 모아 두었습니다).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 선택은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순서로 고릅니다. 「시도 전체」를 두면 시도 단위 값을 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 바꿀 수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화면의 바구니에 넣습니다(최대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표준화율(기본)·조율. DB 지표는 원자료 값 그대로입니다.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지도는 자동으로 「시도 내 시군구」 모드가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다릅니다(지역사회건강조사 2008~2025, 사망원인 ~2025,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이동합니다.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발표용 애니메이션은 순위 「전체 보기」의 ▶와 🎬 영상 저장이 더 보기 좋습니다(3부 참고).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주소(URL)로 화면 공유하기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주소창의 # 뒤에 지표·지역·연도·메뉴가 모두 담깁니다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생겼나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health-profile.kr/#ind=DT_H_OBE_OBE&amp;sido=001&amp;sgg=00101&amp;year=2025&amp;view=profile 처럼 지표(ind)·시도(sido)·시군구(sgg)·연도(year)·메뉴(view)가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화면을 만든 뒤 주소창을 복사해 메일·카카오톡으로 보내면 받는 사람도 같은 화면을 봅니다. 북마크로 저장해 두면 다음에 바로 열립니다.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뒤로 가기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메뉴·지표를 바꿀 때마다 주소가 바뀌므로 브라우저 「뒤로」로 이전 화면에 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문의에 자동 첨부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「의견·문의」에 보고 있던 화면 주소가 자동으로 붙어, 어느 화면의 문제인지 바로 재현할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 — 다크 모드와 글자 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A−/A+ 와 ☾ 다크 버튼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모드는 눈이 편하고 대형 화면 발표에 적합합니다. 지도 라벨은 구역 밝기에 맞춰 자동으로 색이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크기는 3단계로 키울 수 있습니다. 설정은 브라우저에 기억됩니다.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인쇄나 보고서 캡처는 라이트 모드가 잉크 절약과 가독성에 유리합니다.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내려받기 공통 — SVG · PNG ·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 버튼. 파일명에 지표·지역·연도가 자동으로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 — 파워포인트에서 편집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파일이라 파워포인트에 넣고 「그룹 해제」하면 글자·막대를 하나하나 고칠 수 있습니다. 제목·범례·출처까지 포함됩니다.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 — 그림 파일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해상도로 저장되어 인쇄물에도 선명합니다. 한글·문서에 바로 붙입니다.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— 엑셀용 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표·순위·연도별 값을 엑셀에서 열 수 있게 저장합니다(한글 깨짐 방지 처리됨).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공유 시트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저장 대신 공유 창이 열려 갤러리·파일·카카오톡으로 보낼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탭 12개를 왼쪽부터 차례로 설명합니다. 각 화면의 카드마다 「무엇을 보여 주는가」와 「이렇게 쓰면 좋다」를 적었습니다.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3.0 홈 — 메인 화면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열면 나오는 카드 5장 · 카드를 누르면 해당 메뉴로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30084" y="1252728"/>
            <a:ext cx="340367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7516" y="1280160"/>
            <a:ext cx="3348808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17개 시도 건강 지도: 대표 지표 4종(흡연·고위험음주·비만·걷기)을 골라 시도별로 색칠합니다. 시도를 누르면 그 시도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258개 보건소 순위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상위 10곳과 「우리 보건소 찾기」. 하위 순위는 첫 화면에 싣지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취약인구 규모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65세 이상·독거노인·등록장애인·기초생활수급자·영유아·외국인 주민의 전국 규모와 비율.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지자체 계획 수립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현황 분석 → 우선순위 → 목표치 → 사업 선정 4단계를 해당 메뉴로 연결합니다.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처음이세요?: 소개 영상(하이라이트 3분 20초·전체 7분 41초) 플레이어와 사용설명서·활용법 PDF/PPT 내려받기. 머리글 「? 도움말」로 어느 화면에서든 같은 창이 열립니다.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뒤에 아무것도 없이 열면 홈, 공유 링크는 그 화면으로 바로 열립니다. 제목이나 「홈」 탭으로 언제든 돌아옵니다.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요약 타일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값 · 전국 시군구 중앙값 · 순위 · 백분위를 한 줄로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56450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509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지역·연도 값과 전년 대비 증감(▲▼).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중앙값: 전국 기준선(KOSIS에 전국 행이 없어 중앙값 사용).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순위: 비교 범위(전국·시도 내)에서의 순위와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백분위: 100에 가까울수록 양호.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첫 문장은 이 타일 네 개로 충분합니다: "강릉시 비만율 38.0%로 전국 시군구 중앙값(35.4%)보다 2.6%p 높고, 조사 단위 258곳 중 193위(2025년)"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① 전국 17개 시도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「비교 범위」 드롭다운 하나로 지도·순위·격차·연도표가 함께 바뀝니다: 전국 17개 시도 / 전국 시군구 / 시도 내 시군구(17개 시도 중 선택)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150346" y="1252728"/>
            <a:ext cx="3563147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map_s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7778" y="1280160"/>
            <a:ext cx="3508283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9768" y="3835908"/>
            <a:ext cx="7004304" cy="181219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A_sc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63340"/>
            <a:ext cx="6949440" cy="17573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색: 「나쁠수록 붉게」·「좋을수록 파랗게」·맥락 지표는 보라색.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선택되고, ▶ 로 연도 애니메이션.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 지역명 토글로 라벨을 켜고 끕니다(겹침 자동 회피).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시도는 광역 단위 보고에, 전국 시군구는 전국 분포 파악에 쓰십시오.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「시도 내 시군구 — ○○」를 고르면 선택 지역도 그 시도로 옮겨집니다.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② 전국 시군구 · ③ 시도 내 시군구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66816" y="1024128"/>
            <a:ext cx="3730208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soonryu74-github-io/e16f7b4f-1860-59c2-9e17-e9d4583aa91f/scratchpad/manual/shots/B_ma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248" y="1051560"/>
            <a:ext cx="3675344" cy="2514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66816" y="3721608"/>
            <a:ext cx="3730208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tmp/claude-0/-home-user-soonryu74-github-io/e16f7b4f-1860-59c2-9e17-e9d4583aa91f/scratchpad/manual/shots/B_map_ins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48" y="3749040"/>
            <a:ext cx="3675344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26680" y="1051560"/>
            <a:ext cx="400507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지역사회건강조사 지표는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사망률 등 시군구 자료는 229곳의 분포. 분위는 전국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시군구: 우리 시도만 확대, 분위도 시도 안에서 다시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없는 지역은 회색.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지도 폴리곤 색을 파워포인트에서 바꿀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단위처럼 작은 지역은 「시도 내」 모드에서 라벨을 켜야 보입니다.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지역(파란 선)과 전국 시군구 중앙값(주황 선), 선택 연도는 세로 점선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17916" y="1252728"/>
            <a:ext cx="382800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1_비만율_자가보고_추이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5348" y="1280160"/>
            <a:ext cx="377314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상단에 자료 출처와 산식, 지표 방향과 근거, 계층 배지와 권장 측정 주기가 적혀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붉은 안내문은 「자료 연결」이나 「정의 변경」(예: 2018년 검진 판정 기준 변경)을 뜻합니다 — 이 경계를 넘어 증감을 비교하지 마십시오.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카드는 ↓SVG로 받아 계획서 「현황 분석」 그림으로 그대로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① 기본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집단은 상단 「비교 범위」를 따릅니다(17개 시도 · 전국 시군구 · 시도 내 시군구) — 지역사회건강조사 지표는 조사 단위 258곳 기준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5234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2_순위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383280" cy="44685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065" y="1252728"/>
            <a:ext cx="228787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B_rank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497" y="1280160"/>
            <a:ext cx="2233007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값. 선택 지역은 파란 막대, 같은 시도 지역은 옅게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「양호한 순 ▼ / 나쁜 순 ▲」로 정렬을 뒤집습니다.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한 줄로 전부 펼쳐지고, 전국 목록(조사 단위 258곳 또는 시군구 229곳)은 스크롤 상자(인쇄 시 전부 펼침).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수원시처럼 보건소 여러 곳으로 조사되는 시를 고르면 소속 보건소들이 함께 강조됩니다.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시도를 고르면 「시도 내 시군구」, 시군구를 고르면 「전국 시군구」가 기본입니다. 사망률 등 시군구 자료는 「보건소 단위」 버튼으로 258곳 기준으로 펼쳐 볼 수 있습니다.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②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지표(지역사회건강조사)에서만 나타나는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17916" y="1252728"/>
            <a:ext cx="382800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5348" y="1280160"/>
            <a:ext cx="377314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위에 95% 오차막대와 ±값. 선택 지역과 구간이 겹치는 지역은 흐리게 = 차이가 불확실.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표준오차가 값의 20%를 넘는 지역을 순위에서 뺍니다(미국 County Health Rankings 규칙).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유병률처럼 불안정 비율이 높은 지표는 순위 자체를 쓰지 않는 편이 낫습니다.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지역이 몇 위"라고 쓰기 전에 신뢰구간을 켜서 몇 곳과 겹치는지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③ 10개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1~N 서열 대신 값이 비슷한 지역을 10개 묶음으로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897678" y="1252728"/>
            <a:ext cx="206848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5110" y="1280160"/>
            <a:ext cx="201362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분포를 최적 분할(Fisher–Jenks)해 크기가 제각각인 10개 묶음에 배정합니다.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칸이 순위 → 묶음 번호로 바뀌고 경계에 구분선이 생깁니다.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의회·언론 자료에서 「몇 위」 대신 「상위 2번째 묶음」처럼 쓰면 순위 논쟁을 줄일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④ 전체 보기(한 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⛶ 전체 보기: 25개든 258개든 위에서 아래로 한 줄, 막대가 화면 폭 전체 → 격차가 한눈에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2008년부터 재생: 막대 길이와 순위 자리가 해마다 움직입니다(척도는 전 연도 공통 최댓값 → 늘고 주는 게 그대로 보임).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지역은 붉은 막대, ▲▼는 전년 대비 순위 변동.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단축키: Space 재생 · ← → 연도 · Esc 닫기. 칸을 누르면 그 지역으로 이동.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「크게」는 줄 높이를 키웁니다. 회의실 화면에서 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⑤ 인쇄와 영상 저장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상단의 🖨 인쇄 · 🎬 영상 저장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_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인쇄: 이 화면만 세로로 길게 인쇄됩니다(버튼·연도칩 제외, 막대 색 유지). 브라우저 인쇄 창에서 PDF로 저장해도 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저장: 2008년부터 마지막 연도까지 순위·막대 변화를 MP4(1280×720/1080, 30fps)로 저장합니다. 25개 기준 약 27초·10MB.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범위: 자동(40개 이하 전체, 아니면 상위 30) · 전체 · 상위 30 · 상위 50. 선택 지역은 범위 밖이어도 맨 아래에 순위와 함께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비만율처럼 해마다 오른 지표는 영상에서 막대가 길어지는 모습이 그대로 보입니다.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영상을 만드는 동안 창을 닫지 마십시오. MP4가 안 되는 브라우저는 WebM으로 저장됩니다.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3_연도별_추이표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연도마다 값과 순위, 전년 대비 증감을 표로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화면 전체가 이동합니다.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받아 엑셀에서 추가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「연차별 목표」 표의 기준값(최근 3년)을 여기서 복사하십시오.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격차(상자그림)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분포(상자=1~3사분위, 수염=최소~최대)와 우리 지역의 위치(점)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4_지역_간_격차_전국_시군구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길수록 지역 간 격차가 큽니다. 점이 상자 밖이면 우리 지역이 극단에 있다는 뜻.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최대·최소 지역명이 함께 표시됩니다.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"격차가 줄었는가"는 상자 길이의 연도별 변화로 말할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건강형평성(지역박탈지수)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인구총조사 집계표 7개 변수로 만든 근사 지수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5분위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28695" y="1252728"/>
            <a:ext cx="353156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5_건강형평성_지역박탈_5분위별_분포_1_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127" y="1280160"/>
            <a:ext cx="3476698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 분위별로 지표 값이 어떻게 다른지 보여 줍니다(형평성 기울기).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실제 숫자로 산식을 펼쳐 보여 화면만으로 검산할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아니라 「근사」입니다. 절대값·1~2위 차이 강조는 피하십시오.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형평성 관점의 사업 대상 지역(높은 박탈 + 나쁜 지표)을 고를 때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이 지표의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98264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927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가이드라인, 발표·최종 갱신 연도, 권고 수(권고·고려·반대·근거 불충분)를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현행(최근 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 권고는 15년 이상 지난 것이 많아 보조로만 표시합니다. 「CPSTF 권고 N건 보기」를 펼치면 권고마다 판정·연도와 원문 링크(Community Guide)가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백분위를 모아 프로파일을 자동 생성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점수(흡연·음주·신체활동·식생활·정신건강·구강·만성질환·예방·의료이용) + 등급 배지(플래티넘 10% · 골드 25% · 실버 50%)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 · 개선 TOP5(항상 강점을 먼저, 최소 3개 보장).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프리셋(균등·모의 패널·직접), 3년 평균, 도시·군 리그 선택.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표준화율 + 균등 가중 + 3년 평균입니다. 「모의 패널」 가중치는 AI 시뮬레이션이라 실제 근거로 쓰지 마십시오.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강점과 개선 과제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 상위·하위 지표와 접힌 「개선 과제」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68334" y="1252728"/>
            <a:ext cx="392717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7_강점_TOP_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5766" y="1280160"/>
            <a:ext cx="387230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68334" y="3835908"/>
            <a:ext cx="392717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profile_08_가장_개선된_지표_TOP_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766" y="3863340"/>
            <a:ext cx="3872307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TOP5는 하위 백분위 지표. 사망률·건강수명 같은 결과지표는 순위 산정에서 빠지고, 진단 경험률 2종·건강생활실천율·보건기관 이용률 4종도 기본값에서 제외됩니다(설정에서 포함 가능).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「개선 과제」를 펼치면 하위 25% 지표 전체와 권고 사업(예방·관리 탭 연결)이 나옵니다.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강점을 먼저 말하고 개선 과제를 말하는 순서가 미국 County Health Rankings의 설계 원칙입니다. 보고서도 같은 순서를 권합니다.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기대수명·건강수명(근사)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·연앙인구로 만든 시군구 생명표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주관적 건강 기반 건강수명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2_기대수명_건강수명_1_3_10_시군구_근사_주관적_건강_기반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기대수명·건강수명·불건강 기간·시군구 순위 타일과 추이.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예시」에 선택 지역 숫자로 6단계 산식과 검산행이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아니므로 「건강수명(주관적 건강 기반·근사)」로만 부르고, 절대값·연도 간 비교·1~2위 차이 강조는 피합니다.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값(통계청 생명표 기반)은 공식 값에 가깝고, 시군구는 근사입니다. 문서에 반드시 구분해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고령화율·재정자립도·인구밀도·박탈분위가 비슷한 12개 시군구와 비교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05_동류군_비교_1_7_11_여건이_비슷한_12개_시군구_군_리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 보정 없는 전국 서열화에 대한 대응입니다. 도시 리그·군 리그로 나뉩니다.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지역이 몇 번째인지, 어떤 지표가 동류군 평균보다 좋고 나쁜지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"여건이 비슷한 12곳 중 3위"는 전국 순위보다 설득력이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황금다이아몬드(보건사업 우선순위)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 개선/유지/악화) × 공간축(중앙값 대비 좋음/비슷/나쁨) 3×3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5493" y="1252728"/>
            <a:ext cx="643285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4_황금다이아몬드_보건사업_우선순위_1_23_시간축_공간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25" y="1280160"/>
            <a:ext cx="637799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당해연도·기준연도를 여러 해 평균으로 고를 수 있어 표본오차를 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1순위(악화 + 나쁨)가 사업 우선 검토 대상. 통합건강증진사업 계획서의 CIAT 황금다이아몬드와 같은 구조.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기준을 전국 중앙값·시도로 바꿀 수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 빠른 선택이 계획서 작성에 가장 무난합니다.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 + 코로나19 실적 참고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지침의 고위험군 정의를 지역 자료로 옮긴 규모(실측/추정)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1773" y="1252728"/>
            <a:ext cx="294029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3_감염병_대응_고위험군_12_규모_추정_집단_간_중복_있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9205" y="1280160"/>
            <a:ext cx="288543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 30개 집단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「코로나19 실적 참고」: 2020.1~2023.8 누적 확진율·10만 명당 사망·치명률(선택 지역·시도·전국 중앙값)과 65세 이상 비율 4분위별 치명률.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코로나 자료는 거주지가 아니라 신고 보건소 관할 기준이라 대형병원 소재지가 높게 나옵니다 — 시군구 순위를 매기지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대응 계획의 「대상 규모」 표는 이 카드의 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× 현행 근거 지침 = 우선순위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650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10_무엇부터_손댈_것인가_1_19_20_하위_30_지표_현행_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516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판정(현행 → 얇음 → CPSTF만 → 오래됨 → 없음) 순으로 정렬합니다.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확실한 지표부터 손대면 사업 효과를 설명하기 쉽습니다.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「근거 공백」 접기에서 지침이 없는 지표를 따로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기준(25/30/40%)을 바꿔 가며 후보 폭을 조절하십시오.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 16개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+ 미보유 3개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(자료원·사유·확보 경로 표기)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우리 지역 최근값·추이·전국 중앙값.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 5종(전년 대비·추세 연장·중앙값 도달·상위 25% 도달·격차 절반)을 자동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목표·실적을 넣으면 점수가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목표치는 여기서 5종을 비교해 가장 현실적인 값을 고르십시오.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미보유 3종과 확보 경로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 2종 · 모유수유 실천율은 시군구 공표 통계가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00_통합건강증진사업_핵심성과지표_1_18_서울_강남구_16개_전량_결과지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순응률: KOSIS에 표가 없고 공단 자료는 시도 단위·「300일」 구간이 없음 → 공단 맞춤형 DB 신청 사안.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모유수유: 보건복지부 실태조사(전국·시도 표본)만 있음.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건강증진개발원이 공표한 과거 참고값을 함께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자체 집계값이 있으면 계산기에 직접 넣어 득점을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중앙값·시도·시군구를 섞어 최대 6개까지 나란히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E_compar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화면의 「+ 비교에 추가」로 담거나, 비교 화면에서 바로 담습니다.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추이(여러 선) · 막대 · 연도표 · 전 지표 비교표(백분위 색).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목록도 주소에 담기므로 그대로 공유됩니다.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시도 + 전국 중앙값 + 동류군 2곳이 가장 읽기 쉬운 조합입니다.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만성질환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→ 서태평양 → 국가(HP2030·통합건강증진) → 17개 시도 지역보건의료계획 4층 구조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F_nc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182개 항목·문서 54건(원문 링크는 예방·관리 탭 각 항목). 41개 지표 모두 최소 1개 항목에 연결.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프로파일의 하위 지표를 누르면 시도 → 국가 → WPRO → WHO 순으로 권고 사업 카드가 열립니다.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내용이므로 수치는 원문으로 확인하십시오.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지역보건의료계획의 해당 사업명을 그대로 인용하면 상위 계획과의 정합성을 보이기 쉽습니다.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두 지표의 관계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산점도 · 피어슨/스피어만/켄달 상관계수 · 연도별 상관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3656" y="1252728"/>
            <a:ext cx="4796528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G_corr_01_2024년_현재흡연율_1_건강수명_주관적_건강_기반_근사_1_3_10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088" y="1280160"/>
            <a:ext cx="4741664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098077" y="3835908"/>
            <a:ext cx="3667687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G_corr_02_연관성_통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09" y="3863340"/>
            <a:ext cx="3612823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산점도와 상관계수, 근사 p값이 나옵니다. 두 지표가 모두 지역사회건강조사면 조사 단위 258곳, 아니면 시군구 229곳에서 짝을 짓습니다.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점은 강조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아닙니다. 고령화율처럼 둘 다에 영향을 주는 제3의 요인을 생각하십시오.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실천율 ↔ 비만율, 흡연율 ↔ 폐암 사망률처럼 사업 논리를 뒷받침하는 쌍을 찾을 때 씁니다.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Gi*(90/95/99%) 핫·콜드스팟 +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H_hot_01_2025년_현재흡연율_핫스팟_콜드스팟_1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36427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H_hot_02_유의한_핫스팟_콜드스팟_목록_z_큰_순_76곳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36427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인접한 시군구끼리 값이 함께 높은(핫) 또는 낮은(콜드) 군집을 지도에 표시합니다.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추세: 연도별 값의 Mann-Kendall z와 Sen 기울기로 「유의하게 증가/감소」를 판정.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 지역은 가장 가까운 2곳을 이웃으로 씁니다.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공동사업(인접 시군구 연합)의 근거로 핫스팟 지도를 쓰십시오.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지침·백서·계획을 연도별 3D 복도에, 올해의 10대 뉴스와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I_chron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39건의 정책·지침 이벤트를 연도 플라크로 전시(링크만, AI 요약).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올해의 10대 뉴스: 시군구 중앙값의 전년 대비 변화에서 자동 산출(역대 기록 가산).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변화의 벽: 요약집 25개 지표의 연도별 변화 애니메이션. 「개선 1.8%p」처럼 말로 표시.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교육·발표 도입부에 「자동 관람」을 켜 두면 배경 설명이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보건기관 3,607곳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(보건지소·진료소 등)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7460" y="1252728"/>
            <a:ext cx="61089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J_units_01_조사_단위_지도_시군구_보건소_확인_2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2" y="1280160"/>
            <a:ext cx="60540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조사 단위 ↔ KOSIS 코드 전량 매핑, 연도별 참여 단위.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시도별 보건기관 수(KOSIS 2025)와 공공데이터포털 지역보건의료기관 현황(2025-12-31).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 4개 보건소처럼 시군구 하나에 조사 단위가 여럿인 경우를 확인합니다.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지표의 전국 순위·중앙값은 이 258곳 목록을 기준으로 합니다(질병관리청 공표 방식).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 ID · 최종 갱신일 · 경유 · 산식 · 한계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61276" y="1252728"/>
            <a:ext cx="334128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1_자료원_11종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8708" y="1280160"/>
            <a:ext cx="328642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11종. 김동현 교수 DB(질병관리청 자료실)는 원천이 아니라 「경유」로 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한계 4가지.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「지역별 실제 숫자는 어느 화면에서 볼 수 있는지」 안내.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「자료원」 절은 이 카드 내용을 그대로 옮기면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매트릭스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자료원별 ●◐○ · 검색 · 결측 필터 · CSV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0697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2_보건소별_자료_보유_현황_258_2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2521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3개 보건소 박탈지수).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보건소 행을 검색해 어떤 자료가 시군구 값으로 대체되는지 먼저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이메일로 받습니다 · 보고 있던 화면 주소와 브라우저 정보 자동 첨부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L_feedback_00_의견_문의_서버_없이_이메일로_받습니다_입력_중인_글은_이_브라우저에_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구분(오류·수정 의견·자료 문의·기타) · 내용 · 이름/소속 · 회신 이메일.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이메일 앱으로 보내기 / 📋 내용 복사(카카오톡 등에 붙여넣기) / 🐙 GitHub 이슈(개발자용).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글은 브라우저에 자동 저장. 자주 묻는 질문 5개.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신고할 때는 지표명·지역·연도와 함께 「화면 링크 첨부」를 켜 두십시오.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흐름에 맞춰 어떤 메뉴를 어떤 순서로 쓰는지 다섯 가지 예를 듭니다.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 작성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1시간이면 그림·표·근거를 갖춘 초안이 나옵니다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영역 점수·등급·강점 TOP5·개선 TOP5를 캡처(↓PNG).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6~8개 고르기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 + 요약집 25개 중 중요 지표. 각 지표의 추이·순위 카드를 ↓SVG로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동류군·형평성 보강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비교로 「여건 대비」 위치, 건강형평성 카드로 박탈 분위별 격차를 한 줄씩.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절 작성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탭 카드에서 기관·연도·산식·한계를 옮겨 적기. 자체 산출 지표는 「근사」 표기.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위원에게 화면 주소를 보내 같은 화면을 보게 하기.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정하기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 + 근거 지침 + 동류군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3년」로 악화+나쁨(1순위) 지표를 추립니다.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손댈 것인가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 순으로 정렬해 「현행 근거 있음」부터 고릅니다.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분석의 근거 카드에서 NICE 가이드라인 번호·권고 문장을 인용.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사업 찾기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과제에서 권고 사업 카드를 열어 시도·국가 계획의 사업명을 확인.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동류군으로 검증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여건의 12곳과 비교해 정말 우리만 나쁜지 확인합니다.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성과지표 목표치 세우기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탭의 5종 산식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지표의 최근값·추세·전국 중앙값을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산식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대비·추세 연장·중앙값 도달·상위 25%·격차 절반 중 현실적인 값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카드에서 ±오차를 보고 목표 폭이 오차보다 큰지 점검.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계산기로 득점 예상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목표·실적을 넣어 달성률·득점을 미리 계산.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 CSV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3년 평균을 표로 첨부.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의회·주민 설명자료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인쇄 · SVG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고르기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큰 지표(비만율·걷기 실천율 등)를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→ 영상 저장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탭에서 🎬 영상 저장(자동 범위). 파워포인트에 삽입.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인쇄로 한 줄 순위표를 PDF로 저장해 배포.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묶음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대신 묶음으로 표기해 「몇 위」 논쟁을 피합니다.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표기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"자료: 질병관리청 지역사회건강조사(KOSIS) 등 · 지역 건강프로파일 대시보드".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감염병 대비 대상 규모 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 + 코로나19 참고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이상·기저질환·시설 정원·임신부·영유아 규모를 확인(실측/추정 구분).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집단별 표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집단의 인원·인구 대비·시도 순위를 CSV로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참고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확진율·사망·치명률을 시도·전국 중앙값과 비교(순위 아님).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4분위 치명률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 비율이 높을수록 치명률 2배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대비 필요성의 근거.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주의문 인용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관할 기준·연령별 자료 없음을 반드시 함께 적습니다.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잘못 읽으면 도구가 오히려 해가 됩니다. 다섯 가지 주의와 FAQ.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① 순위의 함정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순위 차이는 대부분 의미가 없습니다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표본오차가 있습니다. 신뢰구간이 겹치는 지역끼리는 「차이가 있다」고 말할 수 없습니다. 순위 카드의 ⟺ 신뢰구간과 ⑩ 묶음을 쓰십시오.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불안정값이 많은 지표는 순위를 쓰지 마십시오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표준화율 기준 시군구 값(2017~2025)의 62%가 불안정값입니다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이런 지표는 시도 단위나 여러 해 평균으로만 말하십시오.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지표(사망·유병)는 사업 성과가 아닙니다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② 자체 산출 지표와 정의 변경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건강수명·지역박탈지수는 「근사」입니다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「건강수명(주관적 건강 기반·근사)」·「지역박탈지수(근사, 총조사 집계표)」로만 부르고, 절대값·연도 간 비교·1~2위 차이 강조를 피하십시오. 한계 4가지가 자료원 카드에 있습니다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2018년 검진 제도 개편으로 정의가 바뀐 지표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검진 고혈압·당뇨 판정 비율(2차 판정)은 2017년에서 끝나고, 2018년부터는 1차 판정 의심·유질환자 4종이 별도입니다. 정상A 비율은 2017→2018년에 계단이 있습니다. ⚠ 안내문이 있는 지표는 경계 전후 비교를 하지 마십시오.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사망 장소(병원) 관할로 집계되어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상급종합병원이 있는 지역이 높게 나옵니다. 시군구 순위를 매기지 말고 시도·중앙값 비교만 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각 자료원 카드의 「다음 공표」를 보십시오.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경우입니다. 자료원 탭의 매트릭스에서 ●◐○를 확인하십시오.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보고서에 쓰고 싶어요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↓SVG(편집 가능)·↓PNG·↓CSV, 전체 보기의 인쇄·영상. 출처는 「자료: 질병관리청 지역사회건강조사(KOSIS) 등 · 지역 건강프로파일 대시보드」.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안의 브라우저는 저장이 막혀 있습니다. 「다른 브라우저로 열기」 또는 크롬·사파리에서 여십시오.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문의와 개선 요청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khealth.profile@gmail.com — 「의견·문의」 메뉴에서 보내면 화면 주소가 자동으로 붙습니다.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(동일 내용: soonryu74.github.io/health-dashboard)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 산출법 · 지역박탈지수 산출 · 지표 방향성 · 랭킹 방법론 · 지역보건사업 평가이론 · 데이터 최신성 점검 — 저장소 docs 폴더.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내역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사항은 「자료원」 탭과 「연대기 전시관」에 반영됩니다. 이 설명서는 화면이 바뀌면 함께 갱신합니다.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2008~2025 (2024년까지 김동현 교수 DB [9] 경유, 이후 KOSIS 직접 · 영아사망률은 2024년까지) · 갱신 2026-09-22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대시보드 목록은 개별 권고 원문(thecommunityguide.org) 151건·주제별 권고 목록으로 연결 · 갱신 2024-11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「제9기 지역보건의료계획(2027~2030) 수립 착수 — 「지역 보건의료 성과 나누고, 새로운 4년 준비합니다」」.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지역보건법 제7조에 따른 4년 주기 법정계획 · 2026년 하반기 수립 착수 · 갱신 2026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https://www.mohw.go.kr/board.es?mid=a10503010100&amp;bid=0027&amp;act=view&amp;list_no=1490911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지역 건강프로파일 대시보드 사용설명서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2026-10-02T06:20:55Z</dcterms:created>
  <dcterms:modified xsi:type="dcterms:W3CDTF">2026-10-02T06:20:55Z</dcterms:modified>
</cp:coreProperties>
</file>