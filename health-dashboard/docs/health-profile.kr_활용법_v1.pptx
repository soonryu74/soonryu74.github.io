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중단 지표(저염선호 2019, 운동시설 접근 2018)는 마지막 값 고정, 5년 주기 지표는 직전 조사값 대입.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창녕·구례처럼 건강행태는 좋은데 사망률·여건이 나쁜 군은 K에서 10등급, 우리에서 상위. 옹진은 결정요인(여건)이 바닥인데 K 2등급 — 결과 점수가 끌어올림.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slide" Target="slide98.xml"/><Relationship Id="rId4" Type="http://schemas.openxmlformats.org/officeDocument/2006/relationships/slide" Target="slide98.xml"/><Relationship Id="rId5" Type="http://schemas.openxmlformats.org/officeDocument/2006/relationships/slide" Target="slide98.xml"/><Relationship Id="rId6" Type="http://schemas.openxmlformats.org/officeDocument/2006/relationships/slide" Target="slide98.xml"/><Relationship Id="rId7" Type="http://schemas.openxmlformats.org/officeDocument/2006/relationships/slide" Target="slide98.xml"/><Relationship Id="rId8" Type="http://schemas.openxmlformats.org/officeDocument/2006/relationships/slide" Target="slide99.xml"/><Relationship Id="rId9" Type="http://schemas.openxmlformats.org/officeDocument/2006/relationships/slide" Target="slide98.xml"/><Relationship Id="rId10" Type="http://schemas.openxmlformats.org/officeDocument/2006/relationships/slide" Target="slide98.xml"/><Relationship Id="rId11" Type="http://schemas.openxmlformats.org/officeDocument/2006/relationships/slide" Target="slide98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slide" Target="slide98.xml"/><Relationship Id="rId4" Type="http://schemas.openxmlformats.org/officeDocument/2006/relationships/slide" Target="slide98.xml"/><Relationship Id="rId5" Type="http://schemas.openxmlformats.org/officeDocument/2006/relationships/slide" Target="slide98.xml"/><Relationship Id="rId6" Type="http://schemas.openxmlformats.org/officeDocument/2006/relationships/slide" Target="slide98.xml"/><Relationship Id="rId7" Type="http://schemas.openxmlformats.org/officeDocument/2006/relationships/slide" Target="slide98.xml"/><Relationship Id="rId8" Type="http://schemas.openxmlformats.org/officeDocument/2006/relationships/slide" Target="slide98.xml"/><Relationship Id="rId9" Type="http://schemas.openxmlformats.org/officeDocument/2006/relationships/slide" Target="slide98.xml"/><Relationship Id="rId10" Type="http://schemas.openxmlformats.org/officeDocument/2006/relationships/slide" Target="slide98.xml"/><Relationship Id="rId11" Type="http://schemas.openxmlformats.org/officeDocument/2006/relationships/slide" Target="slide98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slide" Target="slide98.xml"/><Relationship Id="rId4" Type="http://schemas.openxmlformats.org/officeDocument/2006/relationships/slide" Target="slide98.xml"/><Relationship Id="rId5" Type="http://schemas.openxmlformats.org/officeDocument/2006/relationships/slide" Target="slide98.xml"/><Relationship Id="rId6" Type="http://schemas.openxmlformats.org/officeDocument/2006/relationships/slide" Target="slide98.xml"/><Relationship Id="rId7" Type="http://schemas.openxmlformats.org/officeDocument/2006/relationships/slide" Target="slide98.xml"/><Relationship Id="rId8" Type="http://schemas.openxmlformats.org/officeDocument/2006/relationships/slide" Target="slide98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" Target="slide98.xml"/><Relationship Id="rId3" Type="http://schemas.openxmlformats.org/officeDocument/2006/relationships/slide" Target="slide98.xml"/><Relationship Id="rId4" Type="http://schemas.openxmlformats.org/officeDocument/2006/relationships/slide" Target="slide99.xml"/><Relationship Id="rId5" Type="http://schemas.openxmlformats.org/officeDocument/2006/relationships/slide" Target="slide98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image" Target="../media/image-1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image" Target="../media/image-2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image" Target="../media/image-2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image" Target="../media/image-3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" Target="slide99.xml"/><Relationship Id="rId3" Type="http://schemas.openxmlformats.org/officeDocument/2006/relationships/image" Target="../media/image-3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image" Target="../media/image-3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image" Target="../media/image-3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8.xml"/><Relationship Id="rId3" Type="http://schemas.openxmlformats.org/officeDocument/2006/relationships/image" Target="../media/image-3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image" Target="../media/image-4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image" Target="../media/image-4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image" Target="../media/image-5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image" Target="../media/image-5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image" Target="../media/image-5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image" Target="../media/image-6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image" Target="../media/image-6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image" Target="../media/image-6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" Target="slide9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" Target="slide98.xml"/><Relationship Id="rId2" Type="http://schemas.openxmlformats.org/officeDocument/2006/relationships/slide" Target="slide9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" Target="slide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hyperlink" Target="https://chs.kdca.go.kr/chs/stats/statsMain.do" TargetMode="External"/><Relationship Id="rId2" Type="http://schemas.openxmlformats.org/officeDocument/2006/relationships/hyperlink" Target="https://www.korea.kr/briefing/pressReleaseView.do?newsId=156745804" TargetMode="External"/><Relationship Id="rId3" Type="http://schemas.openxmlformats.org/officeDocument/2006/relationships/hyperlink" Target="https://mods.go.kr/menu.es?mid=a10301060200" TargetMode="External"/><Relationship Id="rId4" Type="http://schemas.openxmlformats.org/officeDocument/2006/relationships/hyperlink" Target="https://dportal.kdca.go.kr/" TargetMode="External"/><Relationship Id="rId5" Type="http://schemas.openxmlformats.org/officeDocument/2006/relationships/hyperlink" Target="https://kosis.kr/statHtml/statHtml.do?orgId=350&amp;tblId=DT_35007_N009" TargetMode="External"/><Relationship Id="rId6" Type="http://schemas.openxmlformats.org/officeDocument/2006/relationships/hyperlink" Target="https://kosis.kr/statHtml/statHtml.do?orgId=350&amp;tblId=DT_35007_N001_1" TargetMode="External"/><Relationship Id="rId7" Type="http://schemas.openxmlformats.org/officeDocument/2006/relationships/hyperlink" Target="https://kosis.kr/" TargetMode="External"/><Relationship Id="rId8" Type="http://schemas.openxmlformats.org/officeDocument/2006/relationships/hyperlink" Target="https://kosis.kr/" TargetMode="External"/><Relationship Id="rId9" Type="http://schemas.openxmlformats.org/officeDocument/2006/relationships/hyperlink" Target="https://chs.kdca.go.kr/chs/recsRoom/dataBaseMain.do" TargetMode="External"/><Relationship Id="rId10" Type="http://schemas.openxmlformats.org/officeDocument/2006/relationships/hyperlink" Target="https://github.com/soonryu74/soonryu74.github.io/blob/main/health-dashboard/docs/%EA%B1%B4%EA%B0%95%EC%88%98%EB%AA%85_%EC%82%B0%EC%B6%9C%EB%B2%95_v1.md" TargetMode="External"/><Relationship Id="rId11" Type="http://schemas.openxmlformats.org/officeDocument/2006/relationships/hyperlink" Target="https://github.com/soonryu74/soonryu74.github.io/blob/main/health-dashboard/docs/%EC%A7%80%EC%97%AD%EB%B0%95%ED%83%88%EC%A7%80%EC%88%98_%EC%82%B0%EC%B6%9C_v2.md" TargetMode="External"/><Relationship Id="rId12" Type="http://schemas.openxmlformats.org/officeDocument/2006/relationships/hyperlink" Target="https://github.com/soonryu74/soonryu74.github.io/blob/main/health-dashboard/docs/%EA%B0%90%EC%97%BC%EB%B3%91_%EA%B3%A0%EC%9C%84%ED%97%98%EA%B5%B0_v1.md" TargetMode="External"/><Relationship Id="rId13" Type="http://schemas.openxmlformats.org/officeDocument/2006/relationships/hyperlink" Target="https://www.data.go.kr/data/15124288/fileData.do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outhkorea/southkorea-maps" TargetMode="External"/><Relationship Id="rId2" Type="http://schemas.openxmlformats.org/officeDocument/2006/relationships/hyperlink" Target="https://www.index.go.kr/unity/potal/main/EachDtlPageDetail.do?idx_cd=1041" TargetMode="External"/><Relationship Id="rId3" Type="http://schemas.openxmlformats.org/officeDocument/2006/relationships/hyperlink" Target="https://www.data.go.kr/data/3072692/fileData.do" TargetMode="External"/><Relationship Id="rId4" Type="http://schemas.openxmlformats.org/officeDocument/2006/relationships/hyperlink" Target="https://chs.kdca.go.kr/chs/mainContent/pbhlthInfoMain.do" TargetMode="External"/><Relationship Id="rId5" Type="http://schemas.openxmlformats.org/officeDocument/2006/relationships/hyperlink" Target="https://www.mohw.go.kr/board.es?mid=a10411010100&amp;bid=0019&amp;act=view&amp;list_no=1483973" TargetMode="External"/><Relationship Id="rId6" Type="http://schemas.openxmlformats.org/officeDocument/2006/relationships/hyperlink" Target="https://www.nice.org.uk/guidance" TargetMode="External"/><Relationship Id="rId7" Type="http://schemas.openxmlformats.org/officeDocument/2006/relationships/hyperlink" Target="https://www.thecommunityguide.org/media/pdf/cpstf-finding-lists/CPSTF-All-Findings-508.pdf" TargetMode="External"/><Relationship Id="rId8" Type="http://schemas.openxmlformats.org/officeDocument/2006/relationships/hyperlink" Target="https://github.com/soonryu74/soonryu74.github.io/blob/main/health-dashboard/docs/%EC%A7%80%ED%91%9C_%EB%B0%A9%ED%96%A5%EC%84%B1_v1.md" TargetMode="External"/><Relationship Id="rId9" Type="http://schemas.openxmlformats.org/officeDocument/2006/relationships/hyperlink" Target="https://github.com/soonryu74/soonryu74.github.io/blob/main/health-dashboard/docs/%EC%A7%80%EC%97%AD%EB%B3%B4%EA%B1%B4%EC%82%AC%EC%97%85_%ED%8F%89%EA%B0%80%EC%9D%B4%EB%A1%A0_v1.md" TargetMode="External"/><Relationship Id="rId10" Type="http://schemas.openxmlformats.org/officeDocument/2006/relationships/hyperlink" Target="https://kdca.shinyapps.io/ciat/" TargetMode="External"/><Relationship Id="rId11" Type="http://schemas.openxmlformats.org/officeDocument/2006/relationships/hyperlink" Target="https://github.com/soonryu74/soonryu74.github.io/blob/main/health-dashboard/docs/%EB%9E%AD%ED%82%B9_%EB%B0%A9%EB%B2%95%EB%A1%A0_v1.md" TargetMode="External"/><Relationship Id="rId12" Type="http://schemas.openxmlformats.org/officeDocument/2006/relationships/hyperlink" Target="https://github.com/soonryu74/soonryu74.github.io/blob/main/health-dashboard/docs/%EC%82%AC%EC%9A%A9%EC%84%A4%EB%AA%85%EC%84%9C_%EC%A0%95%EC%98%A4%ED%91%9C_v1.md" TargetMode="External"/><Relationship Id="rId13" Type="http://schemas.openxmlformats.org/officeDocument/2006/relationships/hyperlink" Target="https://www.mohw.go.kr/board.es?mid=a10503010100&amp;bid=0027&amp;act=view&amp;list_no=1490911" TargetMode="External"/><Relationship Id="rId14" Type="http://schemas.openxmlformats.org/officeDocument/2006/relationships/hyperlink" Target="http://communityhealth.kr/contact.php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— 지금 수준에서 무엇을 어떻게 쓰나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· 메뉴별 활용 · 시나리오 · 해석 주의 · K-Health 랭킹(communityhealth.kr) 방법론 비교 · 발전방안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2026년 10월 · https://health-profile.kr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51950" y="1252728"/>
            <a:ext cx="2881381" cy="426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soonryu74-github-io/e16f7b4f-1860-59c2-9e17-e9d4583aa91f/scratchpad/manual/deck_jpg/A0_home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9382" y="1280160"/>
            <a:ext cx="282651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도구인가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성격 · 자료 11종 · 지역 단위 · 값의 종류 · 갱신 주기 · CIAT 대비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홈 카드 · 검색 · 지표/지역/연도 · 공유·내려받기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활용법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 12 · 지역 프로파일 12 · 성과지표 · 지역 비교 · 예방·관리 · 연관지표 · 핫스팟 · 연대기 · 조사 단위 · 자료원 · 의견·문의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 5가지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지역보건의료계획 현황 분석 · 사업 우선순위 · 목표치 · 보고서 · 의회·주민 설명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주의와 FAQ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표본오차 · 결과지표 · 지역 단위 · 격차 수치 · 근사 지표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랭킹(communityhealth.kr)과의 비교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한림대 사회의학연구소(김동현 교수) 방법론 · 반영한 것 · 반영하지 않을 것 · 2024 실증 대조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017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방법 · 기능 · 운영 · 로드맵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화면 하단 「참고문헌」과 같은 번호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도구인가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공표 통계를 모아 시군구·보건소 단위 건강수준을 한 화면에서 보여 주는 「건강수준 모니터링·목표치 설정 지원 도구」입니다.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담긴 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기준 · 모두 공표 통계, 자체 산출 2종은 「근사」 표기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41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결과·환경 DB 115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9] 질병관리청 · 한림대 김동현 교수, 지역사회 건강결과 및 건강결정요인 데이터베이스 v1.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암검진 7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action="ppaction://hlinksldjump" tooltip="[5] 국민건강보험공단, 건강검진통계 — 시군구별 성별 암검진 대상 및 수검인원 현황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일반검진 4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action="ppaction://hlinksldjump" tooltip="[6] 국민건강보험공단, 건강보험통계 · 건강검진통계 · 지역별의료이용통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건강수명 3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action="ppaction://hlinksldjump" tooltip="[10] 자체 산출(근사), 시군구 건강수명 산출법 v1 — Sullivan 방식, 주관적 건강 기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박탈지수 1</a:t>
            </a:r>
            <a:r>
              <a:rPr lang="en-US" sz="9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action="ppaction://hlinksldjump" tooltip="[11] 자체 산출(근사), 지역박탈지수 산출 v2 — 김동진 외(2013) 방식 재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4418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4418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27298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조사 단위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81578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공표 기준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행정 시군구 229곳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action="ppaction://hlinksldjump" tooltip="[15] 행정안전부, 자치단체 행정구역 및 인구현황(e-나라지표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시도 17곳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1636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1636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2008~2025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18년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action="ppaction://hlinksldjump" tooltip="[1] 질병관리청, 지역사회건강조사 시·군·구별 통계(KOSIS 공유서비스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사망원인 2025년분 반영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action="ppaction://hlinksldjump" tooltip="[3] 국가데이터처(옛 통계청), 사망원인통계 — 시군구별 연령표준화 사망률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검진 ~2024</a:t>
            </a:r>
            <a:r>
              <a:rPr lang="en-US" sz="10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action="ppaction://hlinksldjump" tooltip="[6] 국민건강보험공단, 건강보험통계 · 건강검진통계 · 지역별의료이용통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18854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18854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56014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· 국가데이터처 · 국민건강보험공단 · 행정안전부 · 환경부 등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60520"/>
            <a:ext cx="11274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없는 정적 한 파일(약 9.9MB)이라 설치·로그인 없이 주소만 열면 되고, 휴대폰에서도 같은 화면이 나옵니다.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내용이 health-profile.kr 과 soonryu74.github.io/health-dashboard 두 주소에 올라갑니다.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하는 일 · 하지 않는 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성격을 분명히 해야 해석 오류가 줄어듭니다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건강수준 파악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하나를 고르면 현황 타일·지도·추이·순위·연도표·격차·형평성·근거 지침이 한 화면에(CIAT 6패널 + 3).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목표치 설정 지원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통합건강증진사업 핵심성과지표 16개 중 13개를 자동 계산, 안내서의 목표치 설정법 5종을 우리 지역 값으로 바로 보여 줍니다.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현황 분석 자동화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시군구를 고르면 영역 점수 · 강점/개선 TOP5 · 건강수명 · 고위험군 · 동류군 · 우선순위 카드가 자동으로 만들어집니다.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성과 평가는 하지 않습니다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사업 실적(투입·산출) 자료가 없습니다. 사망·유병 같은 결과지표는 변화가 느리고 원인이 여럿이라 「사업 기여」로만 읽어야 합니다.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자료원 11종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출처 기관 기준 · 「자료원」 탭 카드와 같은 구성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914400"/>
                <a:gridCol w="1920240"/>
                <a:gridCol w="27706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1회(12월)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사망원인통계(표준화사망률 22종)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3] 국가데이터처(옛 통계청), 사망원인통계 — 시군구별 연령표준화 사망률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국가데이터처(옛 통계청)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1회(9월 하순)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법정감염병 발생보고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4] 질병관리청, 법정감염병 발생보고 · 결핵환자 신고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[4]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국가암검진 수검률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5] 국민건강보험공단, 건강검진통계 — 시군구별 성별 암검진 대상 및 수검인원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국민건강보험공단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1회(연말~연초)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건강보험·의료이용·검진·의료자원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국민건강보험공단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인구·사회·경제·복지시설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 action="ppaction://hlinksldjump" tooltip="[7] 국가데이터처 · 행정안전부 · 보건복지부 · 문화체육관광부 등, 인구·사회·경제·복지시설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[7]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국가데이터처·행정안전부·보건복지부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환경·안전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7" action="ppaction://hlinksldjump" tooltip="[8] 환경부 · 국토교통부 · 도로교통공단 등, 환경·안전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[8]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환경부·국토부·도로교통공단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건강수명(근사 산출)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8" action="ppaction://hlinksldjump" tooltip="[10] 자체 산출(근사), 시군구 건강수명 산출법 v1 — Sullivan 방식, 주관적 건강 기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[10]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산출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2008~2025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 공표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지역박탈지수(근사)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9" action="ppaction://hlinksldjump" tooltip="[11] 자체 산출(근사), 지역박탈지수 산출 v2 — 김동진 외(2013) 방식 재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[11]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산출(인구주택총조사)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2015·2020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총조사 5년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감염병 고위험군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0" action="ppaction://hlinksldjump" tooltip="[12] 자체 집계(복수 출처), 감염병 대응 고위험군 30개 집단 규모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[12]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집계(복수 출처)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코로나19 확진·사망</a:t>
                      </a:r>
                      <a:r>
                        <a:rPr lang="en-US" sz="10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1" action="ppaction://hlinksldjump" tooltip="[13] 질병관리청, 코로나19 시군구별 월별 확진자 및 사망 발생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질병관리청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2020~2023.8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종료(1회성)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— 숫자가 다른 이유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 · 229 · 17 은 틀린 게 아니라 단위가 다른 것입니다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조사 단위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지역사회건강조사는 「시·군·구별 약 900명 × 258개 지역」으로 조사하고 전국 대푯값을 시·군·구 중앙값으로 공표합니다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조사 지표 41개의 전국 순위·중앙값·백분위는 이 258곳 기준입니다.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시군구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기초자치단체 226곳 + 제주 행정시 2곳 + 세종시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5] 행정안전부, 자치단체 행정구역 및 인구현황(e-나라지표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사망률·검진·인구처럼 행정 단위로 공표되는 자료와 지역 프로파일 종합 순위의 기준입니다.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비교와 17개 시도 순위. 세종은 단층제라 시도 값이 곧 시군구 값입니다.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도시/군 리그 · 동류군 12곳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순위는 도시(구·시) 148곳과 군 82곳을 따로 매깁니다. 동류군은 고령화율·재정자립도·인구밀도·박탈분위가 비슷한 12곳입니다.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값의 종류 — 배지와 숫자 읽는 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화면 상단과 순위 카드에 나오는 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vs 표준화율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간 비교는 표준화율(연령 구조 보정, 기본값), 우리 지역 실제 규모는 조율. 2025년 비만율은 조율 중앙값 33.5% · 표준화율 35.4%로 다릅니다.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「높을수록 양호」·「낮을수록 양호」·「맥락(방향 없음)」. 지도 색과 순위 방향, 백분위 계산이 모두 이 확정표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1] 이 대시보드, 지표 방향성 확정 v1 — 미국·WHO·OECD·국내 12개 체계 조사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[21]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백분위와 묶음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「전국 258곳 중 상위 몇 %」. 순위 패널의 「⑩ 묶음」은 값이 비슷한 지역을 10개로 나눠 같은 묶음 안의 순서 차이를 읽지 않게 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신뢰구간 · 불안정값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표본조사 값은 95% 신뢰구간이 겹치면 순위 차이를 확신할 수 없습니다. 표준오차가 값의 20%를 넘는 값은 「불안정」으로 제외됩니다(통계청·질병관리청 기준은 30%).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갱신 주기와 최신성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원천이 공표되면 반영 · 「자료원」 탭 카드의 「최종 갱신」·「다음 공표」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2377440"/>
                <a:gridCol w="3776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연도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공표(예상)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12월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심폐소생술 2종은 원천 표에 2025년 값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사망원인통계 · 건강수명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3] 국가데이터처(옛 통계청), 사망원인통계 — 시군구별 연령표준화 사망률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10] 자체 산출(근사), 시군구 건강수명 산출법 v1 — Sullivan 방식, 주관적 건강 기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,10]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9월 하순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2025년분 2026-09-22 공표 → 9-25 반영. 영아사망률만 2024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국가암검진 · 일반건강검진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5] 국민건강보험공단, 건강검진통계 — 시군구별 성별 암검진 대상 및 수검인원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,6]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12월~2027년 1월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검진 판정은 2018년 제도 개편으로 정의 변경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미세먼지 2종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6" action="ppaction://hlinksldjump" tooltip="[8] 환경부 · 국토교통부 · 도로교통공단 등, 환경·안전 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[8]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진료실인원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7" action="ppaction://hlinksldjump" tooltip="[6] 국민건강보험공단, 건강보험통계 · 건강검진통계 · 지역별의료이용통계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· 2021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DB 갱신 대기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등록장애인 2017 · 사회복지시설·교통사고 2022 · 병상 2023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2017~2023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지표별 최신 연도는 자료원 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코로나19 확진·사망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8" action="ppaction://hlinksldjump" tooltip="[13] 질병관리청, 코로나19 시군구별 월별 확진자 및 사망 발생 현황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전수감시 종료 · 신고 보건소 관할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CIAT(질병관리청 분석도구)와 무엇이 같고 다른가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6908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CIAT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health-profile.kr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지표별 6패널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현황·추이·단계구분도·순위·연도별 추이·격차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+ 형평성·근거 지침 · 신뢰구간·묶음·전체 보기·인쇄·영상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심층분석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연관지표·핫스팟·황금다이아몬드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3종(브라우저 즉시 계산) + 근거 지침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지표 98 · e-지방지표 157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23] 질병관리청 수도권질병대응센터, CIAT 지역사회건강지표 분석도구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[23]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41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1] 질병관리청, 지역사회건강조사 시·군·구별 통계(KOSIS 공유서비스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결과·환경 115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action="ppaction://hlinksldjump" tooltip="[9] 질병관리청 · 한림대 김동현 교수, 지역사회 건강결과 및 건강결정요인 데이터베이스 v1.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[9]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암검진 7 + 일반검진 4 + 건강수명 3 + 박탈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단위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시도·시군구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17 · 시군구 229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action="ppaction://hlinksldjump" tooltip="[15] 행정안전부, 자치단체 행정구역 및 인구현황(e-나라지표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[15]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보건소 조사 단위 258</a:t>
                      </a:r>
                      <a:r>
                        <a:rPr lang="en-US" sz="110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5" action="ppaction://hlinksldjump" tooltip="[2] 질병관리청, 2025 지역건강통계 한눈에 보기(2025년 지역사회건강조사 통계집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[2]</a:t>
                      </a: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(자료 유무 표기)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프로파일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 점수·등급·강점/개선·동류군·우선순위·고위험군·건강수명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근거·사업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NICE·CPSTF 권고, 예방·관리 지식베이스 182항목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공유·내보내기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공유, SVG(PPT 편집)·PNG·CSV, 인쇄, MP4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Shiny(서버)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단일 파일 — 서버 없음, 휴대폰·오프라인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필요 없습니다. https://health-profile.kr 을 열면 바로 씁니다. 크롬·엣지·사파리·휴대폰 브라우저 모두 지원합니다.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제목(누르면 홈) · 검색 · 메뉴 탭 12개 · 글자 크기 · 다크 모드 · 선택 컨트롤 · 연도 · 요약 타일 · 카드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home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제목: 누르면 언제든 홈으로.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⌕ 검색: 메뉴·카드·지표·지역을 이름으로 찾아 바로 이동.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메뉴 탭 12개: 홈 · 지표 분석 · 지역 프로파일 · 성과지표 · 지역 비교 · 예방·관리 · 연관지표 · 핫스팟 · 연대기 전시관 · 조사 단위 · 자료원 · 의견·문의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지표·시도·시군구·비교 담기·값 유형 컨트롤 ⑤ 연도 슬라이더와 ▶ 재생 ⑥ 요약 타일 4개와 분석 카드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상태는 주소(URL)에 담깁니다. 주소만 복사해 보내면 같은 화면이 열립니다.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카드 오른쪽 위에 ↓SVG·↓PNG·↓CSV 버튼이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— 카드 5장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화면은 질문 4개 + 「처음이세요?」 안내로 시작합니다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61016" y="1252728"/>
            <a:ext cx="2266920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0_home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8448" y="1280160"/>
            <a:ext cx="2212056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66344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17개 시도 건강 지도 — 대표 지표 4종(흡연·고위험음주·비만·걷기), 시도를 누르면 그 시도 분석으로.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258개 보건소 순위 — 상위 10곳 + 「우리 보건소 찾기」(하위 순위는 첫 화면에 싣지 않음).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취약인구 규모 — 65세 이상·독거노인·등록장애인·기초생활수급자·영유아·외국인(17개 시도 합계).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지자체 계획 수립 — 제9기 지역보건의료계획(2027~2030) 현황 → 우선순위 → 목표치 → 사업 선정 4단계로 메뉴 연결.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처음이세요? — 소개 영상 2편 플레이어 + 사용설명서·활용법 PDF/PPT 내려받기(머리글 「? 도움말」과 같은 내용).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— 어느 메뉴에 있든 이름만 치면 갑니다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 「⌕ 검색」, 또는 키보드 / · Ctrl+K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83084" y="1252728"/>
            <a:ext cx="5097671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se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516" y="1280160"/>
            <a:ext cx="5042807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12개 · 화면 안 카드 33개 · 지표 171개 · 지역(시도·시군구·보건소) · 자료원 · FAQ · 예방·관리 항목 182개를 한 상자에서.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「건강수명」을 치면 지역 프로파일의 카드, 지표 분석의 지표 3개, 자료원 카드가 함께 나옵니다.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누르면 그 메뉴로 옮겨 가 카드까지 내려가고 2초간 테두리가 깜박입니다.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↑↓ 이동 · Enter 열기 · Esc 닫기.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이름(「장안」·「동부」)으로도 찾습니다.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「격차」·「갱신」처럼 하고 싶은 일을 쳐도 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선택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상자를 누르면 검색창과 영역 칩이 열립니다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picker_op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검색: 「흡연」·「우울」처럼 단어 일부만.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칩: 흡연·음주·신체활동·식생활·정신건강·구강·만성질환·예방·의료이용 + 사망률·감염병·검진·자원·인구·환경·암검진·건강수명·박탈.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뒤의 작은 글씨가 연도 범위와 방향입니다.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보고서용 핵심 지표는 질병관리청 요약집 25개 지표부터(연대기 「변화의 벽」).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바꿔도 지역·연도는 유지됩니다.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선택과 비교 범위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→ 시군구 순. 「시도 전체」를 두면 시도 단위 값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93826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contro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8834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전체: 17개 시도 비교와 시도 값(시도 순위·백분위).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시군구: 순위·백분위의 비교 기준을 「전국」 또는 「시도 내」로.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담기: 지금 고른 지역을 「지역 비교」 바구니에(최대 6개).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유형: 표준화율(기본) · 조율.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4663440"/>
            <a:ext cx="4005072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47731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074920"/>
            <a:ext cx="3675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 순위가 더 설득력 있을 때가 많습니다(여건이 비슷한 이웃과 비교).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수원시처럼 보건소가 여러 곳인 시는 조사 지표의 시 전체 순위가 없고 보건소별로 안내됩니다.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이동과 재생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슬라이더를 끌거나 ▶ 를 누르면 지도·순위·타일이 해마다 바뀝니다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63193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ye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083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연도는 지표마다 다릅니다(조사 2008~2025, 사망원인 ~2025, 검진 ~2024).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재생은 한 해씩 넘어가며 지도 색과 순위 자리가 움직입니다.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추이표에서 행을 눌러도 그 연도로 갑니다.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중에는 상단에 연도 막대가 떠서 어디까지 왔는지 보입니다.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타일 4개 읽기 — 강릉시 비만율 2025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값·전년 대비 / 전국 중앙값과 차이 / 순위 / 양호도 백분위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11329416" cy="156450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15096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87368"/>
            <a:ext cx="11274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값과 전년 대비 증감(%p). 색이 초록이면 좋아진 방향, 붉으면 나빠진 방향.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 중앙값(조사 지표는 258곳 기준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] 질병관리청, 2025 지역건강통계 한눈에 보기(2025년 지역사회건강조사 통계집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)과의 차이, 소속 시도 값.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순위(양호한 순)와 시도 내 순위 · 지표 방향.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양호도 백분위 0~100(높을수록 양호) 게이지.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5532120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5641848"/>
            <a:ext cx="1094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594360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하나로 단정하지 마십시오. 순위 카드에서 신뢰구간이 겹치는 지역은 흐리게 표시됩니다.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설정과 휴대폰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A−/A+ 글자 크기 · ☾ 다크 모드 · 휴대폰 1열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A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크기와 다크 모드는 브라우저에 기억됩니다.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라벨 색은 구역 색의 밝기에 맞춰 다크 모드에서도 읽힙니다.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휴대폰에서는 모든 카드가 1열로, 표는 좌우로 밀어 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안에서 링크를 열었다면 「다른 브라우저로 열기」를 먼저 — 파일 저장이 막혀 있습니다.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· 내려받기 · 인쇄 · 영상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보고서와 발표자료에 바로 쓰는 4가지 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공유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지표·지역·연도·메뉴·비교 바구니가 주소에 담깁니다. 복사해 메일·메신저로 보내면 같은 화면.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· PNG · CSV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오른쪽 위 버튼. SVG는 파워포인트에서 글자·색을 편집할 수 있고 제목·범례가 포함됩니다. CSV는 표·목록 전량.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「⛶ 전체 보기」의 🖨 — 258곳 막대 순위가 세로로 길게, 버튼·연도칩 없이 인쇄됩니다.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MP4 영상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「⛶ 전체 보기」의 🎬 — 2008년부터 순위가 움직이는 애니메이션을 1280×720 MP4로 저장(파워포인트 삽입 가능, 25곳 기준 약 27초).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활용법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메뉴를 「언제 쓰나 · 무엇을 보나 · 어떻게 읽나」로 설명합니다. 예시는 실제 데이터 값입니다.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단계구분도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「비교 범위」 드롭다운(전국 17개 시도 / 전국 시군구 / 시도 내 시군구) + 🏷 지역명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80953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0_2025년_비만율_자가보고_전국_시군구_단계구분도_1_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7546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 분위 색. 나쁜 지표는 붉은색, 좋은 지표는 파란색, 맥락 지표는 보라색 계열.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누르면 그 지역이 선택되고 모든 카드가 따라 바뀝니다.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재생으로 연도별 색 변화를 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 시군구 모드는 분위도 시도 안에서 다시 나눕니다 — 전국 모드와 색이 달라도 틀린 게 아닙니다.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비교 범위 3가지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 하나로 지도·순위·격차·연도표가 함께 바뀝니다: 시도 17면 · 전국 시군구 · 시도 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80953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map_si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7546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시도: 시군구 폴리곤을 시도별로 합친 17면, 분위는 시도 값 기준.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시군구: 229곳(조사 지표는 보건소 단위 값).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내: 우리 시도만 확대.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라벨은 면적이 큰 폴리곤부터 배치해 겹치지 않습니다. 발표 캡처는 🏷 켜고 ↓PNG.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추이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 · 소속 시도 · 전국 중앙값 세 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7916" y="1252728"/>
            <a:ext cx="3828009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1_비만율_자가보고_추이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348" y="1280160"/>
            <a:ext cx="3773145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올리면 그해 값, 눌러서 연도 이동.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노트(⚠)가 있으면 정의 변경 연도 이전과 비교하지 마십시오(예: 검진 정상A 2018년 계단).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근거와 결과사슬 계층 배지가 카드 위에 있습니다.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순위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집단은 비교 범위를 따름(17개 시도 / 전국 시군구 258 / 시도 내) · 시군구 자료는 「보건소 단위」 토글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7916" y="1252728"/>
            <a:ext cx="3828009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2_순위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348" y="1280160"/>
            <a:ext cx="3773145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양호한 순 ▼ ↔ 나쁜 순 ▲ 토글.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지표는 보건소 258곳 기준(질병관리청 공표 방식). 수원시를 고르면 소속 보건소 4곳이 강조됩니다.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40개 이하 목록은 스크롤 없이 전부 펼쳐집니다.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↓CSV로 순위 전량을 받아 엑셀에서 쓰십시오.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신뢰구간과 불안정값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표본조사 값의 한계를 화면이 보여 줍니다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7916" y="1252728"/>
            <a:ext cx="3828009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rank_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348" y="1280160"/>
            <a:ext cx="3773145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⟺ 신뢰구간: 막대 위 95% 오차막대 + ±표기.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지역과 신뢰구간이 겹치는 지역은 흐리게 — 차이를 확신할 수 없는 곳.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불안정값 제외: 표준오차 &gt; 값의 20%(County Health Rankings 규칙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4] 이 대시보드, 랭킹 방법론 v1 — 영역 점수·등급·가중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우울증상 유병률은 258곳 중 절반 이상이 제외됩니다.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문장: 「95% 신뢰구간 34.7~42.1%」처럼 구간을 함께 적으십시오.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⑩ 묶음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1~258 서열 대신 값이 비슷한 지역 묶음 10개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897678" y="1252728"/>
            <a:ext cx="206848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rank_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110" y="1280160"/>
            <a:ext cx="201362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Fisher–Jenks 최적 분할로 데이터 안의 간격에서 끊습니다. 묶음 크기는 제각각.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묶음 안의 순서 차이는 의미가 없습니다 — 범례에 명시.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County Health Rankings가 2024년부터 순위 대신 10개 그룹을 쓰는 방식에 대응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4] 이 대시보드, 랭킹 방법론 v1 — 영역 점수·등급·가중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⛶ 전체 보기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258곳 막대 순위를 한 화면에, 연도 재생으로 자리 이동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31313" y="1252728"/>
            <a:ext cx="6726326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rank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45" y="1280160"/>
            <a:ext cx="6671462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길이 = 값(전 연도 공통 척도라 해마다 늘고 줄어드는 게 보임). 선택 지역은 붉은 막대, ▲▼는 전년 대비 순위 변동.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1열 — 25곳이든 258곳이든 위에서 아래로, 격차가 한눈에.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인쇄와 영상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 세로 인쇄 · 🎬 MP4 저장 · ↓SVG 6열 조판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65208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rankall_he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597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🖨: 이 화면만 세로로 길게, 색 그대로.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🎬: 범위(전체·상위 30·상위 50)를 고르면 2008년부터 순위가 움직이는 영상. 선택 지역은 범위 밖이어도 맨 아래 한 줄로.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 재생 · ← → 연도 · Esc 닫기.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연도별 추이표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· 전국 순위 · 시도 내 순위 · 증감량(%p) · 증감률(%)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89009" y="1252728"/>
            <a:ext cx="408582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3_연도별_추이표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441" y="1280160"/>
            <a:ext cx="403095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증감량은 %p, 증감률은 %. 둘을 섞어 쓰지 마십시오.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누르면 그 연도로 이동.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↓CSV.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지역 간 격차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상자그림(최소·1사분위·중앙·3사분위·최대) + 우리 지역 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89009" y="1252728"/>
            <a:ext cx="408582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4_지역_간_격차_전국_시군구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441" y="1280160"/>
            <a:ext cx="4030959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각주에 그해 최댓값·최솟값 지역과 최대−최소 격차.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상자가 길어지면 지역 간 차이가 벌어진 것, 우리 점이 상자 위·아래 어디에 있는지가 위치입니다.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최대−최소는 극단 지역 한 곳에 흔들립니다. 상·하위 20% 경계값 차이 등 보완 방식을 준비 중입니다(PART 5·7).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건강형평성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지역박탈지수(근사) 5분위별 분포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24852" y="1252728"/>
            <a:ext cx="5814136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analysis_05_건강형평성_지역박탈_5분위별_분포_1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84" y="1280160"/>
            <a:ext cx="5759272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시군구를 박탈지수로 5등분해 지표 분포를 비교. 5분위−1분위 중앙값 차이가 각주에.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「산출 예시」를 펼치면 우리 지역 7개 변수의 z점수 계산이 그대로 나옵니다.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박탈지수는 2020 인구주택총조사 집계표 근사값 — 공식 통계 아님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1] 자체 산출(근사), 지역박탈지수 산출 v2 — 김동진 외(2013) 방식 재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지표 분석 — 현행 근거 지침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NICE 가이드라인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9] National Institute for Health and Care Excellence(영국), NICE guidelines (NG serie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[19]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미국 CPSTF 권고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0] Community Preventive Services Task Force(미국), The Community Guide — All Active Findings (2024-1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[20]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982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B_evide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949440" cy="19277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지표와 직접·부분 관련된 NICE 지침, 발표·최종 갱신 연도, 권고 수.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배지: 현행(10년 내 갱신) · 얇음 · CPSTF만 · 오래됨 · 없음.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CPSTF는 「원문 ↗」과 「권고 N건 보기」로 개별 권고 원문까지 연결.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「근거」 란에 가이드라인 번호(예: NG92)와 갱신 연도를 인용하십시오.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한 장 요약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시군구를 고르면 자동 생성 · 서울 강남구 예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31313" y="1252728"/>
            <a:ext cx="6726326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45" y="1280160"/>
            <a:ext cx="6671462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상단: 리그 순위(도시/군) · 등급 배지(플래티넘 10%·골드 25%·실버 50%) · 최저 영역 경고 · 박탈 분위 · 종합 양호도.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카드: 순위 산출 방식 → 영역별 순위 → 강점/개선 TOP5 → 건강수명 → 고위험군 → 황금다이아몬드 → 동류군 → 권고 사업 → 우선순위 → 개선 과제 → 전체 지표.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순위 산출 방식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방법론 v1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4] 이 대시보드, 랭킹 방법론 v1 — 영역 점수·등급·가중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[24]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균등 가중 · 3년 이동평균 · 도시/군 리그 · 결과지표 제외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29162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1_순위_산출_방식_24_방법론_v1_기본_균등_가중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12367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균등(기본) / 모의 패널(검증용) / 직접 입력. 모의 패널은 AI 시뮬레이션이라 근거로 쓰지 않습니다.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평균으로 한 해의 표본오차를 누르고, 리그로 여건이 다른 군과 도시를 따로 세웁니다.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결과지표(사망·유병·건강수명)와 진단 경험률 등 4종은 순위에서 뺍니다.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영역별 순위와 수치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영역 점수(백분위 평균)와 리그 내 순위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73299" y="1252728"/>
            <a:ext cx="611724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6_영역별_순위와_수치_1_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731" y="1280160"/>
            <a:ext cx="6062378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영역을 누르면 그 영역 지표 목록이 펼쳐지고, 지표를 누르면 지표 분석으로 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영역이 25점 미만이면 상단에 ⚠ 경고.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「현황 분석」의 영역별 표를 이 카드 ↓CSV로 만드십시오.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강점 TOP 5 · 가장 개선된 지표 TOP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강점은 항상 5개가 보장됩니다(약점은 「개선 과제」에 접어 둠)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36256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7_강점_TOP_5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30770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강점: 백분위가 높은 지표. 개선: 3년 평균 간 방향 보정 변화량이 큰 지표.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설명자료·의회 보고의 첫 쪽에 쓰기 좋은 카드입니다.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기대수명 · 건강수명(근사)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사망원인통계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3] 국가데이터처(옛 통계청), 사망원인통계 — 시군구별 연령표준화 사망률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·연앙인구 3년 합산 생명표 + 주관적 건강 기반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0] 자체 산출(근사), 시군구 건강수명 산출법 v1 — Sullivan 방식, 주관적 건강 기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9850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2_기대수명_건강수명_1_3_10_시군구_근사_주관적_건강_기반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949440" cy="39301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전국은 통계청 공식값과 소수 첫째 자리까지 일치하도록 앵커링, 시군구는 근사값.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「산출 예시」를 펼치면 ①주관적 건강인지율 → ②불건강률 → ③오즈비 → ④Sullivan 계산이 우리 지역 숫자로 나옵니다.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「주관적 건강 기반·근사」를 붙여 쓰고 1~2위 차이는 읽지 마십시오(±0.5~1세 오차).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감염병 대응 고위험군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집단 규모(실측/추정 구분)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2] 자체 집계(복수 출처), 감염병 대응 고위험군 30개 집단 규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코로나19 실적 참고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3] 질병관리청, 코로나19 시군구별 월별 확진자 및 사망 발생 현황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61773" y="1252728"/>
            <a:ext cx="294029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3_감염병_대응_고위험군_12_규모_추정_집단_간_중복_있음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5" y="1280160"/>
            <a:ext cx="288543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 이상·기저질환·임신부·영유아·감염취약시설·사회적 취약·예방접종·대응 자원. 집단은 겹치므로 더하지 않습니다.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코로나19: 65세 이상 비율 4분위별 치명률 0.077 → 0.146%(2배). 자료가 신고 보건소 관할 기준이라 시군구 순위는 표시하지 않습니다.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황금다이아몬드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시간축(기준연도 대비) × 공간축(비교지역 대비) 3×3 → 1~5순위 · CIAT와 같은 구조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3] 질병관리청 수도권질병대응센터, CIAT 지역사회건강지표 분석도구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[23]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5493" y="1252728"/>
            <a:ext cx="643285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4_황금다이아몬드_보건사업_우선순위_1_23_시간축_공간축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25" y="1280160"/>
            <a:ext cx="637799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시간: 당해 값 vs 기준연도 평균 → 개선·유지·악화. 공간: 비교 지역(시도 전체 또는 전국 중앙값) 대비 → 좋음·비슷·나쁨.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= 악화 + 나쁨. 표는 그 순서로 정렬.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괄호의 %는 상대 변화라 값이 작은 지표에서 크게 튑니다(6.2→3.4는 +83%지만 2.8%p).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동류군 비교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여건이 비슷한 12개 시군구(고령화율·재정자립도·인구밀도·박탈분위 표준화 거리)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07140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5_동류군_비교_1_7_11_여건이_비슷한_12개_시군구_도시_리그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0165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「여건이 다른데 왜 줄 세우나」에 대한 답. Z-점수는 ±3에서 절단.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동류군 안에서 우리 순위를 영역별로 보여 줍니다.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누르면 그 지역 프로파일로.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권고 예방·관리 사업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25% 지표 → 시도 → 국가 → 서태평양 → WHO 순 권고 사업 카드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40001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9_권고_예방_관리_사업_하위_25_지표_기준_값과_순위는_위_순위_산출_방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3451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「예방·관리」 탭의 해당 항목으로 이동.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시도 제8기 지역보건의료계획 항목이 먼저 나옵니다.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무엇부터 손댈 것인가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30% 지표 × 현행 근거(NICE·CPSTF)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562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10_무엇부터_손댈_것인가_1_19_20_하위_30_지표_현행_근거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507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 부담(백분위) · 축 2 격차(전국 최대−최소) · 축 3 수단(현행 지침 유무·갱신 연도).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「지금 할 것」(10년 내 갱신된 직접 지침) → 「근거 얇음」 → 「CPSTF만」 → 「근거 낡음」 → 「근거 없음」 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공백(어디에도 없는 지표)이 접기 안에 있습니다.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개선 과제 · 전체 지표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지표는 접어 두고(지자체 참고용), 전체 지표 백분위 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891153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11_개선_과제_1_지자체_참고용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8362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과제는 하위 백분위 지표 목록 — 공개 설명자료에는 싣지 않는 것을 권합니다(랭킹 기획안 원칙).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지표 표는 ↓CSV로 계획서 부록에.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지역 프로파일 — 군 지역 예: 전남 구례군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 리그 18위/82 · 골드 · 박탈 5분위 — 여건이 나빠도 건강행태는 상위권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851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2_gurye_00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7970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리그가 없으면 전국 229곳 중 62위, 리그로 보면 군 82곳 중 18위.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랭킹(한림대)에서는 232위/257(10등급) — 사망률·소득·실업률이 순위에 들어가기 때문(PART 6).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성과지표 — 통합건강증진사업 핵심성과지표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16개 중 13개 자동 계산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18] 보건복지부, 2025년 지역사회 통합건강증진사업 안내(총괄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</a:t>
            </a: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목표치 설정법 5종 · 달성률·득점 계산기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597521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D_kpi_00_통합건강증진사업_핵심성과지표_1_18_서울_강남구_16개_전량_결과지표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45426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값·전국 중앙값·전년 대비가 표로. 지표를 누르면 지표 분석으로.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안내서의 목표치 설정법(전년 대비 개선, 전국 중앙값 도달, 상위 25% 도달 등)을 우리 값으로 계산.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미보유 3종(투약 순응률 2·모유수유)은 시군구 공표 통계가 없음 — 사유와 확보 경로를 행마다 표시.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 화면의 근거」 카드에 안내서 쪽수·정의·자료원이 적혀 있어 계획서에 그대로 인용할 수 있습니다.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지역 비교 — 바구니와 막대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중앙값 · 시도 · 시군구 섞어 최대 6곳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2052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E_compare_00_비교_대상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11503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분석에서 「비교 담기」로 넣습니다. 처음 담을 때 전국 중앙값이 자동으로 들어갑니다.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그해 값 막대 · 추이 비교 · 연도별 비교표.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지역 비교 — 추이와 연도별 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지표를 여러 지역으로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39783" y="1252728"/>
            <a:ext cx="698427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E_compare_01_비만율_자가보고_추이_비교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215" y="1280160"/>
            <a:ext cx="692941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시군구·동류군 지역을 담아 추이를 겹쳐 보십시오.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↓SVG로 받으면 파워포인트에서 선 색·굵기를 바꿀 수 있습니다.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지역 비교 — 전 지표 비교표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171개 지표 × 담은 지역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92765" y="1252728"/>
            <a:ext cx="603422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E_compare_04_전_지표_비교_171개_1_5_6_9_10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97" y="1280160"/>
            <a:ext cx="548558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영역별로 묶인 표. 우리 지역 값이 전국 중앙값보다 나쁜 칸은 색으로.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↓CSV 한 번이면 계획서 부록 표가 끝납니다.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 예방·관리 — 지식베이스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글로벌 → 서태평양 → HP2030·국가 사업 → 17개 시도 지역보건의료계획 182항목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6] 보건복지부, 제9기 지역보건의료계획(2027~2030) 수립 착수 — 「지역 보건의료 성과 나누고, 새로운 4년 준비합니다」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[26]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47616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F_ncd_00_만성질환_예방_관리_지식베이스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14212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칩(전체·WHO·WPRO·국가·시도) · 시도 선택 · 검색 · 영역 칩.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「모든 영역」이면 영역별로 묶여 소제목·개수·목차가 나옵니다.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 예방·관리 — 항목 카드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목표치 · 전략 · 중재/사업 · 연결 지표 · 출처(원문 열기 ↗)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92577" y="1252728"/>
            <a:ext cx="203799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F_ncd_01_항목_90개_영역별로_묶음_묶음_안은_계층_순_시도_국가_서태평양_국제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009" y="1280160"/>
            <a:ext cx="148935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지표를 누르면 지표 분석으로, 「원문 열기 ↗」는 보건복지부·질병관리청 원문 페이지를 새 창으로.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수집·요약한 내용이라 수치는 원문 대조가 필요합니다(각 항목에 출처 쪽수).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 예방·관리 — 수집 문서 54건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발간 기관·연도·확보 여부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573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F_ncd_02_수집_문서_54건_펼치기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5182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펼치면 문서 목록과 비고. 원문은 보관하지 않고 발행기관 링크만 둡니다.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계획서는 한국건강증진개발원 저장소가 허브입니다.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 연관지표 — 산점도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지표의 관계 · 피어슨/스피어만/켄달 · 근사 p값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572773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G_corr_01_2024년_현재흡연율_1_건강수명_주관적_건강_기반_근사_1_3_10_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5179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X·Y 지표를 고르면 전국 시군구 산점도. 우리 지역 점은 붉게.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지표가 모두 조사 지표면 258곳, 아니면 229곳으로 계산.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680" y="5120640"/>
            <a:ext cx="4005072" cy="1143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91272" y="52303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91272" y="553212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↔ 비만, 흡연 ↔ 폐암 사망률처럼 사업 논리를 뒷받침하는 쌍을 찾을 때. 상관은 인과가 아닙니다.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 연관지표 — 통계와 연도별 상관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표 + 해마다 상관이 어떻게 변했나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467195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G_corr_02_연관성_통계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6170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계수가 함께 높아야 안정적인 관계입니다.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상관이 들쭉날쭉하면 표본오차 영향이 큰 지표입니다.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 핫스팟 — 공간 군집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Getis-Ord Gi* 90/95/99% · 이웃은 폴리곤 인접(섬은 최근접 2곳)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3] 질병관리청 수도권질병대응센터, CIAT 지역사회건강지표 분석도구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[23]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972838" y="1252728"/>
            <a:ext cx="391816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H_hot_01_2025년_현재흡연율_핫스팟_콜드스팟_1_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70" y="1280160"/>
            <a:ext cx="386330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핫스팟: 높은 값끼리 모인 곳, 콜드스팟: 낮은 값끼리 모인 곳.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지표의 핫스팟은 권역 사업 대상 후보.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 핫스팟 — 목록과 추세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유의한 핫스팟·콜드스팟 목록(z 큰 순) · Mann-Kendall 추세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972838" y="1252728"/>
            <a:ext cx="3918164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H_hot_02_유의한_핫스팟_콜드스팟_목록_z_큰_순_76곳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70" y="1280160"/>
            <a:ext cx="3863300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 누르면 지표 분석으로.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추세 모드는 연도별 Mann-Kendall z와 Sen 기울기 — 꾸준히 나빠지는 곳을 찾습니다.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 연대기 전시관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전시실 · 올해의 10대 뉴스 · 정책 연표(링크만) · 변화의 벽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31313" y="1252728"/>
            <a:ext cx="6726326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I_chron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45" y="1280160"/>
            <a:ext cx="6671462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뉴스는 시군구 중앙값(표준화율)의 전년 대비 변화로 자동 산출(역대 기록 가산, 영역당 3개·격차 3개 상한).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지침·백서·계획은 원문 대신 발행기관 링크. ← → 키로 이동, ▶ 자동 관람.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 연대기 — 10대 뉴스는 어떻게 뽑히나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설명자료의 「연도별 흐름」 쪽에 쓰기 좋습니다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그해 중앙값이 전년보다 얼마나 움직였나(상대 변화 %). 작은 변화(0.3%p 미만)는 감점.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역대 최고·최저면 가산. 방향이 좋은 쪽이면 「개선」, 나쁜 쪽이면 「악화」 배지.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간 격차(최대−최소)가 줄거나 늘면 뉴스. ※ 「격차 축소」가 양호 지역 악화 때문일 수 있어 판정 방식을 바꿀 예정(PART 7).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영역당 최대 3개, 격차 뉴스 최대 3개, 지표당 1개 — 한 영역이 뉴스를 독차지하지 않게.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 조사 단위 — 시군구와 보건소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 대시보드의 시군구는 무엇을 뜻하나」 + 조사 단위 지도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812273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J_units_00_이_대시보드의_시군구_는_무엇을_뜻하나_2_15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7574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 조사 단위(기준) · 263 지역보건의료기관 현황의 보건소 · 255 질병관리청 공식 목록 · 229 행정 시군구 — 숫자가 다른 이유를 화면에 적어 두었습니다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6] 보건복지부, 전국 지역보건의료기관 현황(2025-12-31 기준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시군구를 누르면 소속 보건소·보건지소·진료소가 나옵니다.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 조사 단위 — 목록과 기관 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258개 조사 단위 전량 + 시도별 지역보건의료기관 수(2025)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66681" y="1252728"/>
            <a:ext cx="7655590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J_units_04_조사_단위_목록_2_16_기준_258개소_과거_폐지_단위_포함_전체_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4113" y="1280160"/>
            <a:ext cx="7600726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보건소·보건의료원·보건지소·보건진료소·건강생활지원센터 3,607곳을 조사 단위에 매핑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6] 보건복지부, 전국 지역보건의료기관 현황(2025-12-31 기준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조사 참여 단위 수(254 → 255 → 258)도 있습니다.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3.10 자료원 — 카드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· 지표 수 · 연도 · 단위 · 갱신 주기 · 다음 공표 · 표ID · 경유 · 한계 · 원문 링크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692173" y="1252728"/>
            <a:ext cx="2804605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K_sources_01_자료원_11종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9605" y="1280160"/>
            <a:ext cx="2749741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 2종에는 「근사·공식 아님」 배지와 산식 한 줄, 「한계 4가지」 접기.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김동현 교수 DB(질병관리청 자료실)를 거친 자료는 원천이 아니라 「경유」로만 표기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9] 질병관리청 · 한림대 김동현 교수, 지역사회 건강결과 및 건강결정요인 데이터베이스 v1.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3.10 자료원 — 보건소별 보유 현황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258행 × 자료원 매트릭스 · ● 단위 그대로 ◐ 시군구 값 대체 ○ 없음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659701" y="1252728"/>
            <a:ext cx="6869550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K_sources_02_보건소별_자료_보유_현황_258_2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7133" y="1280160"/>
            <a:ext cx="6814686" cy="4169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541264"/>
            <a:ext cx="112745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결측은 4곳뿐(군위군 건강수명, 창원 마산·진해·창원 박탈지수).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검색·결측 필터·↓CSV.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3.11 의견·문의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이메일·복사·GitHub 이슈 세 길 — 깨질 일이 없습니다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397324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L_feedback_00_의견_문의_서버_없이_이메일로_받습니다_입력_중인_글은_이_브라우저에_자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39183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4종 · 내용 · 이름/소속 · 회신 이메일. 보고 있던 화면 주소와 브라우저 정보가 자동으로 붙습니다.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초안은 브라우저에 자동 저장. 받는 곳 khealth.profile@gmail.com.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3.11 의견·문의 — 이 대시보드에 대하여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 PDF·PPT · 방법론 문서 · 정오표 · 제작 크레딧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7004304" cy="19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L_feedback_02_이_대시보드에_대하여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18610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사용설명서(67쪽)와 이 활용법 자료는 docs 폴더에서 내려받습니다.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정오표</a:t>
            </a:r>
            <a:r>
              <a:rPr lang="en-US" sz="12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25] 이 대시보드, 사용설명서·대시보드 정오표 v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[25]</a:t>
            </a: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지금까지 고친 오류 17건이 적혀 있습니다 — 숨기지 않습니다.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 5가지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제9기 지역보건의료계획(2027~2030) 수립이 2026년 하반기에 시작됐습니다{r:hplan}. 계획서 작성 순서대로 메뉴를 묶었습니다.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1 — 지역보건의료계획 「현황 분석」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 담당자 · 반나절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프로파일 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시군구 선택 → 상단 요약(리그 순위·등급·최저 영역·박탈 분위) 캡처.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↓PNG.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 순위와 수치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영역 점수 표 ↓CSV → 계획서 「건강수준 현황」 표.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영역을 펼쳐 지표별 백분위 확인.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강점·개선·개선 과제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TOP5는 본문에, 개선 과제는 내부 자료로.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개선된 지표로 지난 기 성과 서술.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건강수명·고위험군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기대수명·건강수명(근사) 카드와 고위험군 30개 집단 규모 — 「근사」·「추정」 표기 그대로.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지표 비교표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비교에 우리 시군구·시도·전국 중앙값·동류군 2곳 담기 → 전 지표 비교 ↓CSV → 부록.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1 — 화면 흐름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 상단 → 영역별 순위 → 강점 TOP5 → 전 지표 비교표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73299" y="1252728"/>
            <a:ext cx="6117242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oonryu74-github-io/e16f7b4f-1860-59c2-9e17-e9d4583aa91f/scratchpad/manual/deck_jpg/C_profile_06_영역별_순위와_수치_1_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731" y="1280160"/>
            <a:ext cx="6062378" cy="4983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280160"/>
            <a:ext cx="4005072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장면을 그대로 캡처하면 현황 분석 장이 만들어집니다.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문구: 「자료: 질병관리청 지역사회건강조사(KOSIS) 등 · 지역 건강프로파일 대시보드(health-profile.kr)」 + 참고문헌 번호.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2 — 사업 우선순위 선정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× 격차 × 수단 × 추세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카드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 「무엇부터 손댈 것인가」 — 하위 30% 지표를 근거 판정 순으로.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「지금 할 것」부터.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황금다이아몬드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 + 나쁨(1순위) 지표 확인. 시간·공간 두 축 모두 나쁜 것이 급합니다.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분석으로 확인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추이·순위(신뢰구간)·격차 카드로 「정말 나쁜가, 표본오차인가」 검토.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지침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NICE 번호·CPSTF 권고 원문을 계획서 근거 란에. 「근거 없음」 지표는 자체 평가 설계 필요.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사업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예방·관리 지식베이스에서 시도 → 국가 → WHO 순 사업 카드를 골라 사업명·전략 작성.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3 — 목표치 설정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탭 · 통합건강증진사업 핵심성과지표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값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탭에서 우리 지역 값·전국 중앙값·전년 대비. 미보유 3종은 사유 확인.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설정법 5종 비교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개선 · 전국 중앙값 도달 · 상위 25% 도달 · 추세 연장 · 시도 평균 — 안내서 방식 그대로 계산.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가능성 점검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분석 추이에서 최근 5년 변화폭과 신뢰구간 폭을 봅니다. 오차보다 작은 목표는 의미가 없습니다.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목표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건강형평성 카드(박탈 5분위)에서 취약 집단 쪽 목표를 따로. 「격차 축소」는 취약 쪽이 올라와야 성과.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달성률·득점 계산기에 목표치를 넣어 평가 시점의 점수를 미리 봅니다.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4 — 보고서·발표자료 만들기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그림·표·문장 · 출처 표기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↓SVG(파워포인트 편집) 또는 ↓PNG. 지도는 🏷 지역명 켜고.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순위·연도별 추이표·전 지표 비교 ↓CSV → 엑셀.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+ 95% 신뢰구간 + 전국 순위(상위 %) + 중앙값 대비 %p + 자료 연도·출처. %와 %p 구분.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[번호]가 곧 참고문헌 번호. 설명서·정오표·이 자료와 같은 번호.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 화면 주소를 함께 적으면 독자가 같은 화면을 엽니다.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5 — 의회·주민 설명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영상과 홈 카드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카드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시도 지도 + 258곳 상위 10 + 취약인구 — 첫 장면.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7830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0710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071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40710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TOP5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 강점 카드. 약점은 공개 자료에 넣지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5846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134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134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134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영상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4134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「⛶ 전체 보기」 🎬 — 2008년부터 우리 지역 순위가 움직이는 MP4를 발표 슬라이드에.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9091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1971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1971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41971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연대기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1971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그해 10대 뉴스와 정책 연표로 「왜 그때 변했나」 서술.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9722" y="1371600"/>
            <a:ext cx="2072030" cy="4206240"/>
          </a:xfrm>
          <a:prstGeom prst="roundRect">
            <a:avLst>
              <a:gd name="adj" fmla="val 4413"/>
            </a:avLst>
          </a:prstGeom>
          <a:solidFill>
            <a:srgbClr val="E8F1FB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2602" y="155448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4260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42602" y="219456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문구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602" y="2834640"/>
            <a:ext cx="17062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「표본조사 값이라 이웃한 순위 차이는 작을 수 있습니다」를 반드시.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문장 예시 — 실제 값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비만율(자가보고, 연령표준화) · 발표 권장 형식(질병관리청 세미나 2026-09-29 기준)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피해야 할 문장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「우리 시 비만율은 38.4%로 전국에서 매우 높은 수준이며 전국 대비 10% 높다.」 — 분포 위치 과장, %와 %p 혼동, 비교 기준 불명, 신뢰구간 누락, 율 종류 누락.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문장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「경기 OO시의 2025년 비만율(자가보고, 연령표준화)은 38.4%(95% CI 34.7~42.1%)로 전국 258곳 중 58번째(상위 약 22%), 경기 48곳 중 7번째다. 전국 중앙값(35.4%)보다 3.0%p 높지만 신뢰구간이 중앙값을 포함해 통계적으로 유의하지 않다.」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얻는 숫자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값·신뢰구간은 순위 카드(⟺ 신뢰구간), 순위·상위 %는 요약 타일, 중앙값은 전국 타일, 시도 내 순위는 순위 카드의 시도 탭.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 추가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「우리 지역 읽기」 — 이 문장을 선택 지역의 실제 값으로 자동 생성하고 복사 버튼(PART 7).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주의와 FAQ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틀린 것보다 숫자를 잘못 읽는 것이 더 흔합니다. 다섯 가지만 지키면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1 — 표본오차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한 칸은 오차 안의 차이일 수 있습니다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표본 약 900명. 신뢰구간이 겹치는 지역은 순위 패널에서 흐리게 표시됩니다. 보고서에는 값과 95% 신뢰구간을 함께.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유병률이 낮은 지표는 더 흔들립니다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우울증상 유병률은 258곳 중 절반 이상이 「불안정값」입니다. 이런 지표로 서열을 매기지 말고 3개년 평균·추세로 보십시오.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변화율은 작은 값에서 과장됩니다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6.2% → 3.4%는 −45%지만 2.8%p입니다. %와 %p를 함께 적으십시오.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2 — 결과지표는 사업 성과가 아닙니다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임팩트 지표(사망·유병·건강수명)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 느리고 원인이 여럿이라 사업 귀인이 불가능합니다. 계층 배지가 「임팩트」인 지표는 「기여」로만 표현하십시오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2] 이 대시보드, 지역보건사업 평가이론 v1 — WHO/IHP+ 결과사슬 계층 분류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[22]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순위에서 뺀 이유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결과지표와 진단 경험률 등 4종은 순위 산정에서 제외됩니다(사업으로 바꿀 수 있는 지표만).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도구는 모니터링·목표치 지원 도구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실적(투입·산출)이 없으므로 사업 평가 도구로 쓰면 안 됩니다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action="ppaction://hlinksldjump" tooltip="[18] 보건복지부, 2025년 지역사회 통합건강증진사업 안내(총괄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[18]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3 — 지역 단위 혼동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258과 229는 다른 단위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지표의 전국 순위·중앙값은 보건소 258곳, 사망률·검진·종합 순위는 행정 시군구 229곳. 같은 「전국 순위」라도 분모가 다릅니다.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다보건소 시(수원·고양·성남·창원·제주 등)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지표는 보건소별 값만 있고 시 전체 순위가 없습니다. 보건소별로 읽거나 사망률 등 시군구 자료로 시 전체를 보십시오.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군위군·세종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군위는 2023년 경북 → 대구 편입이라 과거 자료는 경북 코드에, 세종은 시도 값이 곧 시군구 값입니다.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4 — 격차 수치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최대−최소는 극단 지역 한 곳에 흔들립니다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고위험음주율 격차는 세종 한 곳의 등락으로 10.0 → 7.6 → 6.4 → 8.7%p로 움직였습니다. 상·하위 20% 경계값 차이·분위 평균 차이와 함께 보도록 개선 예정</a:t>
            </a:r>
            <a:r>
              <a:rPr lang="en-US" sz="1150" u="sng" baseline="3000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action="ppaction://hlinksldjump" tooltip="[26] 보건복지부, 제9기 지역보건의료계획(2027~2030) 수립 착수 — 「지역 보건의료 성과 나누고, 새로운 4년 준비합니다」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[26]</a:t>
            </a: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절대(%p)와 상대(배)를 함께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Keppel(2005)·WHO(2017) 지침. 한쪽만 보면 같은 자료에서 정반대 결론이 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「격차 축소」 ≠ 개선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 지역이 나빠져 격차가 줄 수도 있습니다(하향 수렴). 전체 수준이 좋아졌는지, 취약 쪽이 올라왔는지를 함께 보십시오.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5 — 근사 지표와 특수 자료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984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건강수명(주관적 건강 기반·근사){r:hle} · 지역박탈지수(근사){r:dep}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통계가 아닙니다. 이름에 「근사」를 붙이고 절대값 비교·1~2위 차이 강조를 하지 마십시오. 한계 4가지가 자료원 카드에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157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감염병 고위험군(추정){r:risk}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3580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표시 집단은 유병률 × 인구. 집단 간 중복이 있어 합산 금지.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BEDEA"/>
          </a:solidFill>
          <a:ln w="9525">
            <a:solidFill>
              <a:srgbClr val="F2C9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2336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133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코로나19 자료는 신고 보건소 관할 기준{r:covid}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453128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사망이 병원 소재지로 집계돼 상급종합병원이 있는 지역이 높게 나옵니다. 시군구 순위를 매기지 말고 시도·4분위 비교만.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언제 갱신되나요?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12월, 사망원인통계 9월 하순, 공단 검진통계 연말~연초. 자료원 카드의 「다음 공표」.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0972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4516" y="12801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2801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순위가 실제와 다른 것 같아요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17830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분모(258/229)·값 유형(표준화율/조율)·3년 평균·리그 설정을 먼저 확인하십시오. 순위 산출 방식 카드에서 바꿀 수 있습니다.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값이 비어 있어요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단위와 시군구 단위가 다르거나 원천에 값이 없는 경우. 자료원 매트릭스의 ●◐○.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29260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4516" y="31089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45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08876" y="31089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휴대폰에서 저장이 안 돼요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4516" y="36118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카카오톡·인스타그램 안 브라우저는 저장이 막혀 있습니다. 「다른 브라우저로 열기」.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랭킹(communityhealth.kr)과의 비교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한림대학교 사회의학연구소(책임 김동현 교수)의 지역사회 건강순위 — 같은 자료로 「건강」을 다르게 정의한 두 체계를 나란히 놓습니다.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communityhealth.kr 은 무엇인가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한림대학교 사회의학연구소 · Community Health Ranking · 2013년 한국건강증진재단 과제가 출발점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目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10개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ranking · 자살통계 · 대표지표 기술통계 · 기술통계(Bar graph) · GIS 분석 · 지역건강격차 · 시계열 · 산점도 · 자료실 · 연구소개. 자료는 2024년까지.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順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랭킹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25개를 Z-점수 → 전문가 AHP 가중치 → 합산해 한 점수로. 전국 257개 보건소 단위 순위 · 10등급 · 시도 내 순위 · 유사지역군 순위.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유사지역군 4군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농어임가율 · 노인인구율 · 인구밀도 Z-점수 합 → 1군(도시) ~ 4군(농촌). 「도시화 수준이 비슷한 곳끼리 비교」.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김동현(한림대, 책임) · 김춘배 · 박순우 · 김건엽 · 류소연 · 황승식 · 이근찬 · 정진영. 「순위는 줄 세우기가 아니라 목표·방향 설정을 돕기 위한 것」(연구소개).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랭킹 지표 25개와 AHP 가중치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연구소개 「평가 영역과 지표」 원문 · 가중치는 영역 안 비중(%)</a:t>
            </a:r>
            <a:endParaRPr lang="en-US" sz="125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3017520"/>
                <a:gridCol w="1307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건강결과 · 사망(50)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전체·암·뇌혈관·심장·폐렴·자살·당뇨병 사망률(연령표준화)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사망원인통계(국가데이터처)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 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건강결과 · 이환(50)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주관적 건강수준(양호 응답 분율)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이환 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건강행태(20)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남자 현재흡연율 35 · 신체활동실천율 25 · 저염선호율 15 · 고위험음주율 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보건의료자원·서비스(20)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미치료율 35 · 의원 수 15 · 당뇨병 치료율 25 · 암검진율 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 · 전국사업체조사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사회적 요인(20)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고졸률 10 · 실업률 30 · 가구소득 25 · 유배우자율 15 · 편부모·조부모 가구율 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 · 지역별고용조사 · 인구총조사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물리·환경 요인(20)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운동시설 접근율 35 · 공원면적 25 · 주점업 수 20 · 패스트푸드점 수 20 · 운동시설 사업체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지역사회건강조사 · 도시계획현황 · 전국사업체조사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정책적 요인(20)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복지예산비중 20 · 보건세출비중 30 · 보건소 인력비율 25 · 재정자주도 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지방재정연감 · e지방지표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1 — 지역 단위 · 지표 · 자료</a:t>
            </a:r>
            <a:endParaRPr lang="en-US" sz="26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02836"/>
                <a:gridCol w="440283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K-Health 랭킹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health-profile.kr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보건소 257(2024) · 시도 17 · 유사지역군 4군(3변수 Z-합)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보건소 조사 단위 258</a:t>
                      </a:r>
                      <a:r>
                        <a:rPr lang="en-US" sz="11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2] 질병관리청, 2025 지역건강통계 한눈에 보기(2025년 지역사회건강조사 통계집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[2]</a:t>
                      </a: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행정 시군구 229</a:t>
                      </a:r>
                      <a:r>
                        <a:rPr lang="en-US" sz="11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action="ppaction://hlinksldjump" tooltip="[15] 행정안전부, 자치단체 행정구역 및 인구현황(e-나라지표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[15]</a:t>
                      </a: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시도 17 · 도시/군 리그 · 동류군 12곳(4변수 거리)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25개(결과 8 · 결정요인 17)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171개(조사 41 · 결과·환경 115 · 암검진 7 · 일반검진 4 · 건강수명 3 · 박탈 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연도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2025(조사·사망률) · 2024(검진)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우리에 없는 K 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실업률 · 균등화 가구소득 · 공원면적 · 주점업 · 패스트푸드점 · 재정자주도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맥락 지표로 수집 예정(PART 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K에 없는 우리 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신뢰구간 · 감염병 · 암검진 수검률 7종 · 건강수명 · 박탈지수 · 고위험군 · 코로나19 · 근거 지침 · 지식베이스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중단 지표는 마지막 값 고정, 5년 주기는 직전 값 대입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해는 비움(2년 주기는 빈 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2 — 점수화 · 순위 · 격차 · 근거</a:t>
            </a:r>
            <a:endParaRPr lang="en-US" sz="26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02836"/>
                <a:gridCol w="440283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K-Health 랭킹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health-profile.kr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Z-점수 × AHP 가중치 합산(2013 전문가 패널)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백분위 → 영역 평균 → 균등 평균(가중치 선택) · 3년 이동평균</a:t>
                      </a:r>
                      <a:r>
                        <a:rPr lang="en-US" sz="1150" u="sng" baseline="30000" dirty="0">
                          <a:solidFill>
                            <a:srgbClr val="2A78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action="ppaction://hlinksldjump" tooltip="[24] 이 대시보드, 랭킹 방법론 v1 — 영역 점수·등급·가중치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[24]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vs 결정요인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순위 안(결과 100 + 결정요인 100)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결과지표는 순위 밖(임팩트 배지), 결정요인은 맥락·형평성·동류군으로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1~257 전부 · 10등급 · 시도 내 · 유사지역군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리그 내 순위 · 등급 배지 · 강점 TOP5 · 묶음 10 · 하위 비공개 원칙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최댓값·최솟값 · max/min 비 · 상자그림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상자그림 · 최대−최소 차 · 박탈 5분위 — 비·경계값 병기는 예정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 신뢰구간 · 불안정값 제외 · 겹침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근거·사업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없음(「action plan 제시」 예고)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NICE·CPSTF 권고 · 지식베이스 182항목 · 우선순위 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대조 — 2024년 K-Health 종합 순위 vs 우리 종합 순위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조회 기능으로 받은 257곳 · 우리는 균등 가중·3년 평균·전국 통합 풀 229곳 · 이름 매칭 210곳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스피어만 상관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종합 vs 우리 종합. K 건강결과 순위와는 0.65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4418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4418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27298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20곳 겹침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81578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상위권은 비슷하게 잡힌다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1636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1636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20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20곳 겹침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하위권은 다르게 잡힌다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18854" y="1463040"/>
            <a:ext cx="2612898" cy="237744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18854" y="1783080"/>
            <a:ext cx="2612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186 vs 143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788920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 지역 평균 순위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56014" y="315468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186위 · 우리 143위 — K는 사망률·소득·실업·의료자원이 순위에 들어가 군이 구조적으로 아래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60520"/>
            <a:ext cx="11274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자료를 쓰면서 상관이 0.5대인 것은 두 체계가 「건강」을 다르게 정의하기 때문이지 어느 쪽이 틀렸다는 뜻이 아닙니다.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순위 옆에 K-Health 등급을 참고로 함께 보여 주는 것이 사용자에게 가장 정직합니다(PART 7).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사례로 보는 차이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· K는 전국 257곳 순위(등급·유사지역군) · 우리는 전국 통합 229곳 순위(화면은 리그 순위)</a:t>
            </a:r>
            <a:endParaRPr lang="en-US" sz="125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463040"/>
                <a:gridCol w="1463040"/>
                <a:gridCol w="1554480"/>
                <a:gridCol w="1737360"/>
                <a:gridCol w="18562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 종합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 건강결과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 결정요인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 등급·군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종합(통합)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화면(리그)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 과천시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1등급 · P2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리그 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1등급 · P1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리그 9위 · 플래티넘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경남 창녕군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243위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126위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10등급 · 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 리그 2위 · 플래티넘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전남 구례군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10등급 · 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 리그 18위 · 골드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옹진군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2등급 · P4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 리그 하위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강원 강릉시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215위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223위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5등급 · P3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229위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리그 148위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영도구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252위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247위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10등급 · P2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195위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리그 하위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communityhealth.kr 에서 반영한 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반영 · △ 다른 방식으로 반영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5923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592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99032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순위의 목적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399032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「줄 세우기가 아니라 목표·방향 설정」 — 우리 랭킹 기획안(꼴찌 비공개·강점 중심)과 같은 원칙.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59508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92858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928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32660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단위 전국 비교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232660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257곳 ↔ 우리 258곳(질병관리청 2025 공표 기준). 시도 내 순위도 양쪽 모두.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3136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126486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264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66288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유사지역군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066288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K는 3변수 Z-합 4군. 우리는 도시/군 리그(2분) + 동류군 12곳(고령화율·재정자립도·인구밀도·박탈 거리). 목적은 같고 방식이 다름.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26764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60114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9601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899916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10등급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899916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K는 전국 257곳 10등급. 우리는 지표별 순위의 「⑩ 묶음」(Fisher–Jenks)과 등급 배지 3단.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0392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793742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7937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733544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→ 지표 분해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4733544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 순위에서 지표별 순위로 내려가는 구조는 같음(우리는 지표 분석 화면으로 이어짐).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494020"/>
            <a:ext cx="11274552" cy="723900"/>
          </a:xfrm>
          <a:prstGeom prst="roundRect">
            <a:avLst>
              <a:gd name="adj" fmla="val 10105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627370"/>
            <a:ext cx="457200" cy="457200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5627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567172"/>
            <a:ext cx="3108960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전국값 = 시군구 중앙값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5567172"/>
            <a:ext cx="7251192" cy="57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지표 정의표의 원칙과 우리 전국 기준이 같음.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communityhealth.kr 에서 반영하지 않을 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미반영 · 이유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31620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99032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AHP 전문가 가중치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399032"/>
            <a:ext cx="7251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2013년 패널의 사망 50·이환 50·결정요인 5영역 각 20%를 2026년에 그대로 쓸 근거가 없음. 우리는 균등 가중 기본, 실제 패널 조사 후 비교(PART 7).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10028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377440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Z-점수 합산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377440"/>
            <a:ext cx="7251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한 곳에 끌려가고 「−0.8점」을 설명하기 어려움. 백분위(「229곳 중 상위 몇 %」)로 통일.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488436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884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55848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사회·물리·정책 요인을 건강 점수에 합산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355848"/>
            <a:ext cx="7251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실업률·소득·공원·재정은 지자체가 단기간에 못 바꾸는 여건. 순위에 넣으면 군이 구조적으로 하위(K 군 평균 186위). 우리는 여건을 동류군·박탈·맥락으로 따로.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61104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466844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466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334256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단일 순위 최하위 공개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334256"/>
            <a:ext cx="7251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기획안 원칙과 충돌. 하위는 지자체 내부 자료(개선 과제)로.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39512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445252"/>
            <a:ext cx="457200" cy="457200"/>
          </a:xfrm>
          <a:prstGeom prst="ellipse">
            <a:avLst/>
          </a:prstGeom>
          <a:solidFill>
            <a:srgbClr val="D8402A"/>
          </a:solidFill>
          <a:ln w="12700">
            <a:solidFill>
              <a:srgbClr val="D840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5445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31266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대체 규칙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312664"/>
            <a:ext cx="7251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중단 지표를 마지막 값으로 고정하면 「변화 없음」이 규칙 때문에 생김. 없는 해는 비움.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8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결론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7259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자료, 다른 정의. K-Health 랭킹은 「건강결과 + 여건」을, 우리는 「지자체가 바꿀 수 있는 건강행태·예방·의료이용」을 순위로 삼는다. 상관 0.53은 그 차이의 크기다 — 그래서 두 순위를 나란히 보여 주는 것이 가장 정직하다.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docs/communityhealth_검토_v1.md · 2024년 257곳 실증 대조 · http://communityhealth.kr/contact.php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수준에서 다음 한 해 동안 할 것 — 데이터 · 방법 · 기능 · 운영 네 갈래와 로드맵.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 1 — 데이터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것을 넓히고, 없는 것을 밝힌다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지역사회건강조사 원시자료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신청제(2025 자료 2026.2 공개). 연령별 실측으로 건강수명 비례 오즈 가정을 교체하고 성·연령 분리 지표를 만든다.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맥락 지표 6종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실업률 · 균등화 가구소득 · 공원면적 · 주점업 · 패스트푸드점 · 재정자주도 — e-지방지표·전국사업체조사·도시계획현황. 순위 밖 맥락으로.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공단 맞춤형 DB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투약 순응률(300일 이상 경계)·건강검진 문진 실측(흡연·BMI)은 시군구 공표가 없음 → 맞춤형 DB 신청 사안으로 명시.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뒤처진 지표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미세먼지 2020 · 진료실인원 2021 · 등록장애인 2017 등은 원천 직접 수집으로 전환(사망원인통계처럼).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 2 — 방법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2026-09-29 질병관리청 세미나 참고문헌(Keppel 2005 · WHO HEAT Plus · WHO 2017 · Lee 2025)과 HP2030 제6차 기준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3방식 × 절대·상대 병기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최대−최소 / 상·하위 20% 경계값(HP2030 지역 격차 방식) / 분위 평균 차이를 %p와 배로 함께. 30곳 이하 집단은 분위 미적용 표기.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변화 4유형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연대기 「격차 축소 = 좋음」을 끌어올림 / 하향 수렴 / 동반 악화 / 전체 이동으로 판정(Whitehead &amp; Dahlgren 2006, Lee 2025).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전문가 패널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모의 패널 대신 실제 조사(AHP 또는 배점) → 가중치 프리셋 「2026 패널」. K-Health 2013 가중치와 비교 보고.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신뢰구간 · RSE 두 기준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표준오차로 부트스트랩 순위 구간, RSE 20%(CHR&amp;R)·30%(통계청·질병관리청) 병기. 박탈 5분위 SII·RII.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 3 — 기능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보고서를 더 빨리 끝내게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「우리 지역 읽기」 문장 자동 생성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· 95% CI · 전국/권역/시도 순위 · 중앙값 포함 여부 · 하위 20%와의 격차를 선택 지역 실제 값으로 써 주고 복사 버튼(PART 4 예시 문장).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등급 병기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프로파일 상단에 K-Health 랭킹 2024 등급·순위를 참고로 표시(출처 링크). 두 정의의 차이를 숨기지 않음.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권역(질병대응센터 5권역) 비교 · 자살 전용 화면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집단에 권역 탭, 분포 속 위치 표(전국·권역·시도). 자살 사망률 + 우울감 + 정신건강 자원 + 고위험군 한 화면.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분석 PDF 자동 생성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1의 네 장면 + 문장 + 참고문헌을 한 번에 PDF로. 격차 체감 환산(「N만 명」)도 함께.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발전방안 4 — 운영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돌아가게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자동화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사망원인통계(9월)·지역사회건강조사(12월)·공단 검진(1월) 공표 직후 수집 → 대조 → 빌드 → 배포를 스크립트로. 원천과의 셀 단위 대조(DB 2023년 0 오류를 잡은 방식)를 표준 절차로.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3258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4516" y="15087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08876" y="15087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주소 동기화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4516" y="20116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과 GitHub Pages가 항상 같은 빌드이도록 배포를 한 단계로.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 처리와 정오표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의견·문의 → 정오표 번호 → 수정 → 설명서 갱신의 흐름을 지킨다. 지금까지 17건.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154680"/>
            <a:ext cx="5500116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4516" y="333756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451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8876" y="3337560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외부 검토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4516" y="3840480"/>
            <a:ext cx="51343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방법론·건강수명·박탈지수를 예방의학·건강형평성 전문가에게 검토받고 그 답변을 문서에 싣는다.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— 2026년 4분기 ~ 2027년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공표 일정에 맞춘 순서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127455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6771" y="1673352"/>
            <a:ext cx="402336" cy="402336"/>
          </a:xfrm>
          <a:prstGeom prst="ellipse">
            <a:avLst/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94560"/>
            <a:ext cx="2681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2026.10~11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14600"/>
            <a:ext cx="26814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격차·문장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681478" cy="3108960"/>
          </a:xfrm>
          <a:prstGeom prst="roundRect">
            <a:avLst>
              <a:gd name="adj" fmla="val 3410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200400"/>
            <a:ext cx="24071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3방식 병기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지역 읽기 문장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연대기 격차 4유형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K-Health 등급 병기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1129" y="1673352"/>
            <a:ext cx="402336" cy="402336"/>
          </a:xfrm>
          <a:prstGeom prst="ellipse">
            <a:avLst/>
          </a:prstGeom>
          <a:solidFill>
            <a:srgbClr val="1F8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21558" y="2194560"/>
            <a:ext cx="2681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2026.12~2027.1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21558" y="2514600"/>
            <a:ext cx="26814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자료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21558" y="3063240"/>
            <a:ext cx="2681478" cy="3108960"/>
          </a:xfrm>
          <a:prstGeom prst="roundRect">
            <a:avLst>
              <a:gd name="adj" fmla="val 3410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58718" y="3200400"/>
            <a:ext cx="24071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지역사회건강조사 반영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공단 검진 2025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지표 6종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 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25487" y="1673352"/>
            <a:ext cx="402336" cy="402336"/>
          </a:xfrm>
          <a:prstGeom prst="ellipse">
            <a:avLst/>
          </a:prstGeom>
          <a:solidFill>
            <a:srgbClr val="B779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5916" y="2194560"/>
            <a:ext cx="2681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85916" y="2514600"/>
            <a:ext cx="26814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검증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5916" y="3063240"/>
            <a:ext cx="2681478" cy="3108960"/>
          </a:xfrm>
          <a:prstGeom prst="roundRect">
            <a:avLst>
              <a:gd name="adj" fmla="val 3410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3076" y="3200400"/>
            <a:ext cx="24071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전문가 패널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원시자료 신청·연령별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신뢰구간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89845" y="1673352"/>
            <a:ext cx="402336" cy="402336"/>
          </a:xfrm>
          <a:prstGeom prst="ellipse">
            <a:avLst/>
          </a:prstGeom>
          <a:solidFill>
            <a:srgbClr val="173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0274" y="2194560"/>
            <a:ext cx="2681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하반기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50274" y="2514600"/>
            <a:ext cx="26814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지원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50274" y="3063240"/>
            <a:ext cx="2681478" cy="3108960"/>
          </a:xfrm>
          <a:prstGeom prst="roundRect">
            <a:avLst>
              <a:gd name="adj" fmla="val 3410"/>
            </a:avLst>
          </a:prstGeom>
          <a:solidFill>
            <a:srgbClr val="F4F6F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7434" y="3200400"/>
            <a:ext cx="240715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분석 PDF 자동 생성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제9기 계획 수립 지원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 2026 반영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자동화 완성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8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7259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순위는 결론이 아니라 질문의 시작입니다. 이 도구는 「우리 지역이 어디쯤 있고, 무엇을 먼저 할지」를 공표 통계로 묻게 해 줍니다. 답은 현장이 냅니다.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https://health-profile.kr · khealth.profile@gmail.com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문서 11건 — 산출 방식은 모두 공개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「의견·문의 → 방법론 문서」에서 열립니다 · health-profile.kr/docs/ · github.com/soonryu74/soonryu74.github.io/tree/main/health-dashboard/docs</a:t>
            </a:r>
            <a:endParaRPr lang="en-US" sz="125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다루나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랭킹_방법론_v1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순위 산출 — 공인 체계 7종 조사 · 가중치 프리셋 · 3년 평균 · 도시/군 리그 · 결과지표 제외 · 등급 배지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건강수명_산출법_v1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앵커 → 시도 생명표 → 시군구 Chiang 생명표 + 오즈비 보정(Sullivan) · 예상 반박과 답변 · 표기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지역박탈지수_산출_v2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총조사 집계표 7개 변수 z합 · 국내 6편 구성지표 대조표 · 남성 실업률 누락 등 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감염병_고위험군_v1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245개 지역 × 30개 집단, 실측/추정 구분 · 미수집 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지표_방향성_v1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119개 지표 좋음/나쁨/맥락 판정 근거 — 국내·국제·미국 12개 체계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지역보건사업_평가이론_v1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Donabedian · 로직모델 · WHO 결과사슬 · RE-AIM — 계층 분류(투입/산출/성과/임팩트/맥락)의 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건강격차_지표_검토_v1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Keppel 2005 · WHO HEAT Plus · HP2030 격차 방식 — 격차 3방식 병기 권고(P1~P8)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미국_CountyHealthRankings_검토_v1 · 미국_CHR_2025보고서_검토_v1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신뢰구간 · 불안정값 제외 · 10개 묶음 · 강점 최소 3개 · 취약집단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미국_CPSTF_검토_v1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Community Guide 권고 224건 파싱 · 지표 매핑 · 암검진 수검률 수집의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communityhealth_검토_v1 · McMaster_근거위원회_검토_v1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K-Health 랭킹 방법론 대조·실증(PART 6) · 근거 8형태 · 「측정된 소통」 반영 후보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데이터_최신성_점검_v1 · 사용설명서_정오표_v1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지표별 최신 연도와 원천 대조 · 공표 일정 · 정오표 17건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본문의 파란 [번호]를 누르면 이 쪽으로 옵니다 · 번호는 대시보드 화면 하단 「참고문헌」·사용설명서와 같습니다 · 주소를 누르면 원문이 열립니다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「지역사회건강조사 시·군·구별 통계(KOSIS 공유서비스)」.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기관코드 177 · 41개 통계표 · 2008~2025 · 조율·표준화율·표준오차 · 갱신 2025-12-22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https://chs.kdca.go.kr/chs/stats/statsMain.do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「2025 지역건강통계 한눈에 보기(2025년 지역사회건강조사 통계집)」.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부록(통계표) 시군구별 — 조사 단위 258곳의 기준. 2026-02-25 공개 · 갱신 2026-02-25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https://www.korea.kr/briefing/pressReleaseView.do?newsId=156745804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국가데이터처(옛 통계청), 「사망원인통계 — 시군구별 연령표준화 사망률」.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101 DT_1B34E13 · 표준화사망률 22종 · 2008~2025 (2024년까지 김동현 교수 DB [9] 경유, 이후 KOSIS 직접 · 영아사망률은 2024년까지) · 갱신 2026-09-22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https://mods.go.kr/menu.es?mid=a10301060200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「법정감염병 발생보고 · 결핵환자 신고현황」.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감염병 발생률 12종 · 2008~2024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https://dportal.kdca.go.kr/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국민건강보험공단, 「건강검진통계 — 시군구별 성별 암검진 대상 및 수검인원 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350 DT_35007_N009 · 암검진 수검률 7종 · 2015~2024 · 갱신 2026-01-06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https://kosis.kr/statHtml/statHtml.do?orgId=350&amp;tblId=DT_35007_N009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국민건강보험공단, 「건강보험통계 · 건강검진통계 · 지역별의료이용통계」.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 350 DT_35007_N001_1·N098·N103·N105 등 · 의료이용·검진·의료자원 33종 · 2008~2024 · 갱신 2026-01-06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https://kosis.kr/statHtml/statHtml.do?orgId=350&amp;tblId=DT_35007_N001_1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[7]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국가데이터처 · 행정안전부 · 보건복지부 · 문화체육관광부 등, 「인구·사회·경제·복지시설 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인구총조사·경제활동인구조사·주민등록인구현황·지방재정·노인복지시설현황·문화기반시설 총람 등 24종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[8]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· 국토교통부 · 도로교통공단 등, 「환경·안전 통계」.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상·하수도통계·도로현황·대기오염도·교통문화지수·경찰접수교통사고현황 등 28종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https://kosis.kr/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[9]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· 한림대 김동현 교수, 「지역사회 건강결과 및 건강결정요인 데이터베이스 v1.7」.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사망·감염병·의료이용·자원·인구·환경 115종을 이 DB를 거쳐 수집(원 출처는 각 기관 통계 [3]~[8])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https://chs.kdca.go.kr/chs/recsRoom/dataBaseMain.do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[10]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산출(근사), 「시군구 건강수명 산출법 v1 — Sullivan 방식, 주관적 건강 기반」.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사망원인통계 [3]·연앙인구·지역사회건강조사 [1] 주관적 건강인지율로 산출. 공식 통계 아님 · 갱신 2026-09-25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https://github.com/soonryu74/soonryu74.github.io/blob/main/health-dashboard/docs/건강수명_산출법_v1.md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산출(근사), 「지역박탈지수 산출 v2 — 김동진 외(2013) 방식 재현」.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인구주택총조사 2015·2020 집계표 7개 변수 z점수 합. 원전: 김동진 외, 「한국의 건강불평등 지표와 정책과제」, 한국보건사회연구원 연구보고서 2013-10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https://github.com/soonryu74/soonryu74.github.io/blob/main/health-dashboard/docs/지역박탈지수_산출_v2.md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집계(복수 출처), 「감염병 대응 고위험군 30개 집단 규모」.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주민등록인구·지역사회건강조사·장기요양·예방접종 통계 등 결합. 실측/추정 구분 표기 · 갱신 2026-09-08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https://github.com/soonryu74/soonryu74.github.io/blob/main/health-dashboard/docs/감염병_고위험군_v1.md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「코로나19 시군구별 월별 확진자 및 사망 발생 현황」.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15124288 · 2020-01-20~2023-08-31 전수감시 · 신고 보건소 관할 기준 · 갱신 2025-05-20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https://www.data.go.kr/data/15124288/fileData.do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 (계속)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본문의 파란 [번호]를 누르면 이 쪽으로 옵니다 · 번호는 대시보드 화면 하단 「참고문헌」·사용설명서와 같습니다 · 주소를 누르면 원문이 열립니다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7455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SGIS(가공: southkorea-maps), 「2018년 시군구 행정구역 경계(TopoJSON)」.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skorea-municipalities-2018 · 공공누리 제1유형 원자료 가공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https://github.com/southkorea/southkorea-maps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행정안전부, 「자치단체 행정구역 및 인구현황(e-나라지표)」.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기초자치단체 226곳 · 시군구 229곳 = 226 + 제주 행정시 2 + 세종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https://www.index.go.kr/unity/potal/main/EachDtlPageDetail.do?idx_cd=1041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「전국 지역보건의료기관 현황(2025-12-31 기준)」.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보건소·보건의료원·보건지소·보건진료소·건강생활지원센터 3,607곳 · 공공데이터포털 Open API · 갱신 2025-12-31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https://www.data.go.kr/data/3072692/fileData.do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[17]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「지역사회건강조사 참여 보건소 정보」.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보건소 목록 255곳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https://chs.kdca.go.kr/chs/mainContent/pbhlthInfoMain.do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[18]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「2025년 지역사회 통합건강증진사업 안내(총괄)」.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핵심성과지표 16개와 목표치 설정법 · 부록3 지표 정의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https://www.mohw.go.kr/board.es?mid=a10411010100&amp;bid=0019&amp;act=view&amp;list_no=1483973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[19]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National Institute for Health and Care Excellence(영국), 「NICE guidelines (NG series)」.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공중보건·지역 적용 가능 지침 선별, 권고문 단위 분류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https://www.nice.org.uk/guidance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[20]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Preventive Services Task Force(미국), 「The Community Guide — All Active Findings (2024-11)」.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224건 · 22개 주제 · 대시보드 목록은 개별 권고 원문(thecommunityguide.org) 151건·주제별 권고 목록으로 연결 · 갱신 2024-11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https://www.thecommunityguide.org/media/pdf/cpstf-finding-lists/CPSTF-All-Findings-508.pdf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[21]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「지표 방향성 확정 v1 — 미국·WHO·OECD·국내 12개 체계 조사」.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지표별 「높을수록 좋음/나쁨/맥락」 판정 근거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https://github.com/soonryu74/soonryu74.github.io/blob/main/health-dashboard/docs/지표_방향성_v1.md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[22]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「지역보건사업 평가이론 v1 — WHO/IHP+ 결과사슬 계층 분류」.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투입·산출·성과·임팩트·맥락 계층과 권장 측정 주기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https://github.com/soonryu74/soonryu74.github.io/blob/main/health-dashboard/docs/지역보건사업_평가이론_v1.md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[23]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수도권질병대응센터, 「CIAT 지역사회건강지표 분석도구」.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구성(6패널·심층분석 3종)을 참조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https://kdca.shinyapps.io/ciat/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[24]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「랭킹 방법론 v1 — 영역 점수·등급·가중치」.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 가중·3년 평균·결과지표 제외·등급(플래티넘 10%·골드 25%·실버 50%)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https://github.com/soonryu74/soonryu74.github.io/blob/main/health-dashboard/docs/랭킹_방법론_v1.md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[25]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대시보드, 「사용설명서·대시보드 정오표 v1」.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2026-09-24 숫자 전수 검증 결과와 정정 내역 · 갱신 2026-09-24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https://github.com/soonryu74/soonryu74.github.io/blob/main/health-dashboard/docs/사용설명서_정오표_v1.md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[26]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보건복지부, 「제9기 지역보건의료계획(2027~2030) 수립 착수 — 「지역 보건의료 성과 나누고, 새로운 4년 준비합니다」」. </a:t>
            </a:r>
            <a:r>
              <a:rPr lang="en-US" sz="95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지역보건법 제7조에 따른 4년 주기 법정계획 · 2026년 하반기 수립 착수 · 갱신 2026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https://www.mohw.go.kr/board.es?mid=a10503010100&amp;bid=0027&amp;act=view&amp;list_no=1490911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[K]  </a:t>
            </a: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한림대학교 사회의학연구소, 「Community Health Ranking(K-Health 랭킹)」. 연구소개(방법론·지표 25개·AHP 가중치·연구진) · 2024년 결과 · 2026-10-02 확인 </a:t>
            </a:r>
            <a:r>
              <a:rPr lang="en-US" sz="900" u="sng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4" invalidUrl="" action="" tgtFrame="" tooltip="원문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http://communityhealth.kr/contact.php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health-profile.kr 활용법 · 지역 건강프로파일 대시보드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건강프로파일 대시보드 · https://health-profile.kr · khealth.profile@gmail.com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health-profile.kr 활용법 — 지역 건강프로파일 대시보드</dc:title>
  <dc:subject>PptxGenJS Presentation</dc:subject>
  <dc:creator>지역 건강프로파일 대시보드</dc:creator>
  <cp:lastModifiedBy>지역 건강프로파일 대시보드</cp:lastModifiedBy>
  <cp:revision>1</cp:revision>
  <dcterms:created xsi:type="dcterms:W3CDTF">2026-10-02T06:21:23Z</dcterms:created>
  <dcterms:modified xsi:type="dcterms:W3CDTF">2026-10-02T06:21:23Z</dcterms:modified>
</cp:coreProperties>
</file>